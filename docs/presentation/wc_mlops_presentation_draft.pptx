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9" r:id="rId4"/>
    <p:sldId id="258" r:id="rId5"/>
    <p:sldId id="260" r:id="rId6"/>
    <p:sldId id="266" r:id="rId7"/>
    <p:sldId id="261" r:id="rId8"/>
    <p:sldId id="271" r:id="rId9"/>
    <p:sldId id="263" r:id="rId10"/>
    <p:sldId id="269" r:id="rId11"/>
    <p:sldId id="272" r:id="rId12"/>
    <p:sldId id="265" r:id="rId13"/>
    <p:sldId id="274" r:id="rId14"/>
    <p:sldId id="270" r:id="rId15"/>
    <p:sldId id="268" r:id="rId16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CDBE"/>
    <a:srgbClr val="4E008E"/>
    <a:srgbClr val="EFEFEF"/>
    <a:srgbClr val="C3B9D7"/>
    <a:srgbClr val="FFDCA5"/>
    <a:srgbClr val="F07387"/>
    <a:srgbClr val="F5A5C8"/>
    <a:srgbClr val="82C8F0"/>
    <a:srgbClr val="270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75" autoAdjust="0"/>
    <p:restoredTop sz="61975" autoAdjust="0"/>
  </p:normalViewPr>
  <p:slideViewPr>
    <p:cSldViewPr snapToGrid="0" snapToObjects="1" showGuides="1">
      <p:cViewPr varScale="1">
        <p:scale>
          <a:sx n="66" d="100"/>
          <a:sy n="66" d="100"/>
        </p:scale>
        <p:origin x="1568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156" d="100"/>
          <a:sy n="156" d="100"/>
        </p:scale>
        <p:origin x="5416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398E1-C99F-B940-AA2A-81EFFACD43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1D06C-D5DE-814D-931E-02A0CE659BAA}" type="datetimeFigureOut">
              <a:rPr lang="fi-FI" smtClean="0"/>
              <a:t>17.5.2026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F1C63F-BE00-6D49-B7F3-B253A7D51A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1539-0194-5C43-B2F5-2C601016B9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09C7D-6C28-B047-9D84-D52122B215C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71555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9BFB5-475C-5B44-BA4D-42DE8089864D}" type="datetimeFigureOut">
              <a:rPr lang="fi-FI" smtClean="0"/>
              <a:t>17.5.2026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97949-CA96-A34A-920F-344DC55B347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78629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17300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55047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i-FI" sz="1200" b="1" dirty="0"/>
              <a:t>Technical </a:t>
            </a:r>
            <a:r>
              <a:rPr lang="fi-FI" sz="1200" b="1" dirty="0" err="1"/>
              <a:t>debt</a:t>
            </a:r>
            <a:r>
              <a:rPr lang="fi-FI" sz="1200" b="1" dirty="0"/>
              <a:t>, </a:t>
            </a:r>
            <a:r>
              <a:rPr lang="fi-FI" sz="1200" b="1" dirty="0" err="1"/>
              <a:t>but</a:t>
            </a:r>
            <a:r>
              <a:rPr lang="fi-FI" sz="1200" b="1" dirty="0"/>
              <a:t> </a:t>
            </a:r>
            <a:r>
              <a:rPr lang="fi-FI" sz="1200" b="1" dirty="0" err="1"/>
              <a:t>justifiable</a:t>
            </a:r>
            <a:r>
              <a:rPr lang="fi-FI" sz="1200" b="1" dirty="0"/>
              <a:t>  </a:t>
            </a:r>
          </a:p>
          <a:p>
            <a:pPr marL="0" indent="0">
              <a:buNone/>
            </a:pPr>
            <a:endParaRPr lang="fi-FI" sz="1200" b="1" dirty="0"/>
          </a:p>
          <a:p>
            <a:pPr marL="0" indent="0">
              <a:buNone/>
            </a:pPr>
            <a:endParaRPr lang="fi-FI" sz="1200" b="1" dirty="0"/>
          </a:p>
          <a:p>
            <a:pPr marL="0" indent="0">
              <a:buNone/>
            </a:pPr>
            <a:r>
              <a:rPr lang="fi-FI" sz="1200" b="1" dirty="0" err="1"/>
              <a:t>Tactical</a:t>
            </a:r>
            <a:r>
              <a:rPr lang="fi-FI" sz="1200" b="1" dirty="0"/>
              <a:t> </a:t>
            </a:r>
            <a:r>
              <a:rPr lang="fi-FI" sz="1200" b="1" dirty="0" err="1"/>
              <a:t>clustering</a:t>
            </a:r>
            <a:r>
              <a:rPr lang="fi-FI" sz="1200" b="1" dirty="0"/>
              <a:t> </a:t>
            </a:r>
            <a:r>
              <a:rPr lang="fi-FI" sz="1200" dirty="0" err="1"/>
              <a:t>was</a:t>
            </a:r>
            <a:r>
              <a:rPr lang="fi-FI" sz="1200" dirty="0"/>
              <a:t> </a:t>
            </a:r>
            <a:r>
              <a:rPr lang="fi-FI" sz="1200" dirty="0" err="1"/>
              <a:t>considered</a:t>
            </a:r>
            <a:r>
              <a:rPr lang="fi-FI" sz="1200" dirty="0"/>
              <a:t>, </a:t>
            </a:r>
            <a:r>
              <a:rPr lang="fi-FI" sz="1200" dirty="0" err="1"/>
              <a:t>but</a:t>
            </a:r>
            <a:r>
              <a:rPr lang="fi-FI" sz="1200" dirty="0"/>
              <a:t>:</a:t>
            </a:r>
          </a:p>
          <a:p>
            <a:r>
              <a:rPr lang="fi-FI" sz="1200" dirty="0" err="1"/>
              <a:t>Silhouette</a:t>
            </a:r>
            <a:r>
              <a:rPr lang="fi-FI" sz="1200" dirty="0"/>
              <a:t> &lt; 0.40 </a:t>
            </a:r>
            <a:r>
              <a:rPr lang="fi-FI" sz="1200" dirty="0" err="1"/>
              <a:t>across</a:t>
            </a:r>
            <a:r>
              <a:rPr lang="fi-FI" sz="1200" dirty="0"/>
              <a:t> </a:t>
            </a:r>
            <a:r>
              <a:rPr lang="fi-FI" sz="1200" dirty="0" err="1"/>
              <a:t>all</a:t>
            </a:r>
            <a:r>
              <a:rPr lang="fi-FI" sz="1200" dirty="0"/>
              <a:t> </a:t>
            </a:r>
            <a:r>
              <a:rPr lang="fi-FI" sz="1200" dirty="0" err="1"/>
              <a:t>variants</a:t>
            </a:r>
            <a:r>
              <a:rPr lang="fi-FI" sz="1200" dirty="0"/>
              <a:t> </a:t>
            </a:r>
          </a:p>
          <a:p>
            <a:pPr marL="0" indent="0">
              <a:buNone/>
            </a:pPr>
            <a:r>
              <a:rPr lang="fi-FI" sz="1200" dirty="0"/>
              <a:t>→ no </a:t>
            </a:r>
            <a:r>
              <a:rPr lang="fi-FI" sz="1200" dirty="0" err="1"/>
              <a:t>discrete</a:t>
            </a:r>
            <a:r>
              <a:rPr lang="fi-FI" sz="1200" dirty="0"/>
              <a:t> </a:t>
            </a:r>
            <a:r>
              <a:rPr lang="fi-FI" sz="1200" dirty="0" err="1"/>
              <a:t>tactical</a:t>
            </a:r>
            <a:r>
              <a:rPr lang="fi-FI" sz="1200" dirty="0"/>
              <a:t> </a:t>
            </a:r>
            <a:r>
              <a:rPr lang="fi-FI" sz="1200" dirty="0" err="1"/>
              <a:t>archetypes</a:t>
            </a:r>
            <a:r>
              <a:rPr lang="fi-FI" sz="1200" dirty="0"/>
              <a:t> </a:t>
            </a:r>
          </a:p>
          <a:p>
            <a:pPr marL="0" indent="0">
              <a:buNone/>
            </a:pPr>
            <a:r>
              <a:rPr lang="fi-FI" sz="1200" dirty="0"/>
              <a:t>→ </a:t>
            </a:r>
            <a:r>
              <a:rPr lang="fi-FI" sz="1200" dirty="0" err="1"/>
              <a:t>raw</a:t>
            </a:r>
            <a:r>
              <a:rPr lang="fi-FI" sz="1200" dirty="0"/>
              <a:t> </a:t>
            </a:r>
            <a:r>
              <a:rPr lang="fi-FI" sz="1200" dirty="0" err="1"/>
              <a:t>rolling</a:t>
            </a:r>
            <a:r>
              <a:rPr lang="fi-FI" sz="1200" dirty="0"/>
              <a:t> </a:t>
            </a:r>
            <a:r>
              <a:rPr lang="fi-FI" sz="1200" dirty="0" err="1"/>
              <a:t>columns</a:t>
            </a:r>
            <a:r>
              <a:rPr lang="fi-FI" sz="1200" dirty="0"/>
              <a:t> </a:t>
            </a:r>
            <a:r>
              <a:rPr lang="fi-FI" sz="1200" dirty="0" err="1"/>
              <a:t>used</a:t>
            </a:r>
            <a:r>
              <a:rPr lang="fi-FI" sz="1200" dirty="0"/>
              <a:t> </a:t>
            </a:r>
            <a:r>
              <a:rPr lang="fi-FI" sz="1200" dirty="0" err="1"/>
              <a:t>directly</a:t>
            </a:r>
            <a:endParaRPr lang="fi-FI" sz="1200" dirty="0"/>
          </a:p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21002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/>
              <a:t>Google </a:t>
            </a:r>
            <a:r>
              <a:rPr lang="en-US" sz="1200" dirty="0" err="1"/>
              <a:t>MLOps</a:t>
            </a:r>
            <a:r>
              <a:rPr lang="en-US" sz="1200" dirty="0"/>
              <a:t> Level 1: automated   retraining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/>
              <a:t>Databricks perspective: </a:t>
            </a:r>
            <a:r>
              <a:rPr lang="en-US" sz="1200" dirty="0" err="1"/>
              <a:t>Dagshub</a:t>
            </a:r>
            <a:r>
              <a:rPr lang="en-US" sz="1200" dirty="0"/>
              <a:t> for DevOps, DVC for </a:t>
            </a:r>
            <a:r>
              <a:rPr lang="en-US" sz="1200" dirty="0" err="1"/>
              <a:t>DataOps</a:t>
            </a:r>
            <a:r>
              <a:rPr lang="en-US" sz="1200" dirty="0"/>
              <a:t> and </a:t>
            </a:r>
            <a:r>
              <a:rPr lang="en-US" sz="1200" dirty="0" err="1"/>
              <a:t>Mlflow</a:t>
            </a:r>
            <a:r>
              <a:rPr lang="en-US" sz="1200" dirty="0"/>
              <a:t> for </a:t>
            </a:r>
            <a:r>
              <a:rPr lang="en-US" sz="1200" dirty="0" err="1"/>
              <a:t>ModelOps</a:t>
            </a:r>
            <a:endParaRPr lang="en-FI" dirty="0"/>
          </a:p>
          <a:p>
            <a:pPr marL="171450" indent="-171450">
              <a:buFontTx/>
              <a:buChar char="-"/>
            </a:pPr>
            <a:endParaRPr lang="en-FI" dirty="0"/>
          </a:p>
          <a:p>
            <a:pPr marL="171450" indent="-171450">
              <a:buFontTx/>
              <a:buChar char="-"/>
            </a:pPr>
            <a:r>
              <a:rPr lang="en-FI" dirty="0"/>
              <a:t>Trigger: Every day at night (4:30 UTC) until the tournament starts; then, every 30 minutes; Cloud Run Jobs</a:t>
            </a:r>
          </a:p>
          <a:p>
            <a:pPr marL="171450" indent="-171450">
              <a:buFontTx/>
              <a:buChar char="-"/>
            </a:pPr>
            <a:endParaRPr lang="en-FI" dirty="0"/>
          </a:p>
          <a:p>
            <a:pPr marL="171450" indent="-171450">
              <a:buFontTx/>
              <a:buChar char="-"/>
            </a:pPr>
            <a:r>
              <a:rPr lang="en-FI" dirty="0"/>
              <a:t>Inference: Predict home and away goal distributions for all 1176 potential matchups of the 48 qualified teams</a:t>
            </a:r>
          </a:p>
          <a:p>
            <a:pPr marL="628650" lvl="1" indent="-171450">
              <a:buFontTx/>
              <a:buChar char="-"/>
            </a:pPr>
            <a:r>
              <a:rPr lang="en-FI" dirty="0"/>
              <a:t>Monte Carlo Simulation: 10.000 tournament simulations</a:t>
            </a:r>
          </a:p>
          <a:p>
            <a:pPr marL="171450" indent="-171450">
              <a:buFontTx/>
              <a:buChar char="-"/>
            </a:pPr>
            <a:endParaRPr lang="en-FI" dirty="0"/>
          </a:p>
          <a:p>
            <a:pPr marL="171450" indent="-171450">
              <a:buFontTx/>
              <a:buChar char="-"/>
            </a:pPr>
            <a:r>
              <a:rPr lang="en-FI" dirty="0"/>
              <a:t>Monitoring = Alert-only: if champion model degrades in RPS (ranked probability score)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Active only after at least 24 matches in the tournament are played (1 matchday)</a:t>
            </a:r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02834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FI" dirty="0"/>
              <a:t>Bivariate Poisson GLM (one parameter each for home and away goals, and one shared parameter)</a:t>
            </a:r>
          </a:p>
          <a:p>
            <a:pPr marL="171450" indent="-171450">
              <a:buFontTx/>
              <a:buChar char="-"/>
            </a:pPr>
            <a:endParaRPr lang="en-FI" dirty="0"/>
          </a:p>
          <a:p>
            <a:pPr marL="171450" indent="-171450">
              <a:buFontTx/>
              <a:buChar char="-"/>
            </a:pPr>
            <a:r>
              <a:rPr lang="en-FI" dirty="0"/>
              <a:t>Bayesian Poisson: No-U-Turn Sampler (NUTS) was used; very inefficient (and not worth it for the purpose of this project, see later)</a:t>
            </a:r>
          </a:p>
          <a:p>
            <a:pPr marL="171450" indent="-171450">
              <a:buFontTx/>
              <a:buChar char="-"/>
            </a:pPr>
            <a:endParaRPr lang="en-FI" dirty="0"/>
          </a:p>
          <a:p>
            <a:pPr marL="171450" indent="-171450">
              <a:buFontTx/>
              <a:buChar char="-"/>
            </a:pPr>
            <a:r>
              <a:rPr lang="en-FI" dirty="0"/>
              <a:t>Deep Learning: Long-Short-Term-Memory, 1-dimensional Convolutional Neural Network (Keras, JAX backend)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14390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87456-6907-B4ED-5D82-F0EBFBFE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859A9-69DB-C3B1-541F-FEF91447A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9E129-46B7-19D3-3021-9A0B72201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b="1" dirty="0"/>
              <a:t>Experimental environment: </a:t>
            </a:r>
            <a:r>
              <a:rPr lang="en-GB" dirty="0"/>
              <a:t>Training and f</a:t>
            </a:r>
            <a:r>
              <a:rPr lang="en-FI" dirty="0"/>
              <a:t>ine-tuning on all national team matches between 2018 and 2022; optimizing for low Poisson NLL to reward scoreline accuracy</a:t>
            </a:r>
          </a:p>
          <a:p>
            <a:pPr marL="171450" indent="-171450">
              <a:buFontTx/>
              <a:buChar char="-"/>
            </a:pPr>
            <a:r>
              <a:rPr lang="en-FI" b="1" dirty="0"/>
              <a:t>QA: </a:t>
            </a:r>
            <a:r>
              <a:rPr lang="en-FI" dirty="0"/>
              <a:t>Validation of best configurations against WC 2022 holdout; selecting challenger model by lowest RPS</a:t>
            </a:r>
          </a:p>
          <a:p>
            <a:pPr marL="171450" indent="-171450">
              <a:buFontTx/>
              <a:buChar char="-"/>
            </a:pPr>
            <a:r>
              <a:rPr lang="en-FI" b="1" dirty="0"/>
              <a:t>Gate: </a:t>
            </a:r>
            <a:r>
              <a:rPr lang="en-FI" dirty="0"/>
              <a:t>Challenger is then compared to existing champion (one with the lower RPS is champion)</a:t>
            </a:r>
          </a:p>
          <a:p>
            <a:pPr marL="171450" indent="-171450">
              <a:buFontTx/>
              <a:buChar char="-"/>
            </a:pPr>
            <a:r>
              <a:rPr lang="en-FI" b="1" dirty="0"/>
              <a:t>Production: </a:t>
            </a:r>
            <a:r>
              <a:rPr lang="en-FI" dirty="0"/>
              <a:t>Champion is refit on the whole pre-WC 2026 data; then used for inference</a:t>
            </a:r>
          </a:p>
          <a:p>
            <a:pPr marL="171450" indent="-171450">
              <a:buFontTx/>
              <a:buChar char="-"/>
            </a:pPr>
            <a:r>
              <a:rPr lang="en-FI" dirty="0"/>
              <a:t>Other models are refitted as well as “shadow” models to enable comparison</a:t>
            </a:r>
          </a:p>
          <a:p>
            <a:pPr marL="171450" indent="-171450">
              <a:buFontTx/>
              <a:buChar char="-"/>
            </a:pPr>
            <a:endParaRPr lang="en-FI" dirty="0"/>
          </a:p>
          <a:p>
            <a:pPr marL="171450" indent="-171450">
              <a:buFontTx/>
              <a:buChar char="-"/>
            </a:pPr>
            <a:r>
              <a:rPr lang="en-FI" dirty="0"/>
              <a:t>WHY WE HAVE TWO DIFFERENT METRICS</a:t>
            </a:r>
          </a:p>
          <a:p>
            <a:pPr marL="171450" indent="-171450">
              <a:buFontTx/>
              <a:buChar char="-"/>
            </a:pPr>
            <a:r>
              <a:rPr lang="en-FI" dirty="0"/>
              <a:t>What I want to predict: Winning probabilities, Group stage ranking probabilities, Probabilities of teams advancing to stage X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FI" dirty="0"/>
              <a:t>Therefore, we select by RPS (because its Ordinal nature -&gt; rewards predicting the outcome into the “right direction”)</a:t>
            </a:r>
          </a:p>
          <a:p>
            <a:pPr marL="171450" indent="-171450">
              <a:buFontTx/>
              <a:buChar char="-"/>
            </a:pPr>
            <a:r>
              <a:rPr lang="en-FI" dirty="0"/>
              <a:t>But: I want to avoid fine-tuning a model on RPS</a:t>
            </a:r>
          </a:p>
          <a:p>
            <a:pPr marL="628650" lvl="1" indent="-171450">
              <a:buFontTx/>
              <a:buChar char="-"/>
            </a:pPr>
            <a:r>
              <a:rPr lang="en-FI" dirty="0"/>
              <a:t>Draw predictions never get the maximum penalty, so the models would likely hedge towards draws</a:t>
            </a:r>
          </a:p>
          <a:p>
            <a:pPr marL="628650" lvl="1" indent="-171450">
              <a:buFontTx/>
              <a:buChar char="-"/>
            </a:pPr>
            <a:r>
              <a:rPr lang="en-FI" dirty="0"/>
              <a:t>Historically, only about 25% of WC matches are draws</a:t>
            </a:r>
          </a:p>
          <a:p>
            <a:pPr marL="1085850" lvl="2" indent="-171450">
              <a:buFontTx/>
              <a:buChar char="-"/>
            </a:pPr>
            <a:r>
              <a:rPr lang="en-FI" dirty="0"/>
              <a:t>Therefore, we optimize for Poisson Negative Log Likelihood (which rewards scoreline accuracy and is agnostic to outcome)</a:t>
            </a:r>
          </a:p>
          <a:p>
            <a:pPr marL="1085850" lvl="2" indent="-171450">
              <a:buFontTx/>
              <a:buChar char="-"/>
            </a:pPr>
            <a:r>
              <a:rPr lang="en-FI" dirty="0"/>
              <a:t>We tune for accurate scorelines and select for the right outcome direction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E556F-6DF0-EFC8-6D3B-F902BF9C3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796228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Original idea: promote only the 4 best-performing models (</a:t>
            </a:r>
            <a:r>
              <a:rPr lang="en-GB" sz="1200" b="1" i="1" dirty="0">
                <a:solidFill>
                  <a:srgbClr val="444444"/>
                </a:solidFill>
              </a:rPr>
              <a:t>Cross-Validation Negative Log Likelihood</a:t>
            </a:r>
            <a:r>
              <a:rPr lang="en-GB" sz="1200" i="1" dirty="0">
                <a:solidFill>
                  <a:srgbClr val="444444"/>
                </a:solidFill>
              </a:rPr>
              <a:t>) to the QA phase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Finding: Holdout </a:t>
            </a:r>
            <a:r>
              <a:rPr lang="en-GB" sz="1200" b="1" i="1" dirty="0">
                <a:solidFill>
                  <a:srgbClr val="444444"/>
                </a:solidFill>
              </a:rPr>
              <a:t>Ranked Probability Score </a:t>
            </a:r>
            <a:r>
              <a:rPr lang="en-GB" sz="1200" i="1" dirty="0">
                <a:solidFill>
                  <a:srgbClr val="444444"/>
                </a:solidFill>
              </a:rPr>
              <a:t>turned the experimental ranking on its head (as here too between 1 and 7)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Explanations:</a:t>
            </a:r>
          </a:p>
          <a:p>
            <a:pPr marL="1543050" marR="0" lvl="3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Metric mismatch (NLL vs RPS)</a:t>
            </a:r>
          </a:p>
          <a:p>
            <a:pPr marL="1543050" marR="0" lvl="3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Distribution shift (WC holdout is tournament only, neutral venues, strong teams)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  Design choice changed: Promote all 9 models instead (not much overhead but adds to analysis)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GB" sz="1200" i="1" dirty="0">
              <a:solidFill>
                <a:srgbClr val="444444"/>
              </a:solidFill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Very narrow range for each metric for models 1-7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Given that the holdout was just 64 matches, the model differences might be due to statistical noise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CNN and SARIMAX perform worst on both metrics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GB" sz="1200" i="1" dirty="0">
              <a:solidFill>
                <a:srgbClr val="444444"/>
              </a:solidFill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Accuracy: much better than random guessing, but still difficult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GB" sz="1200" i="1" dirty="0">
              <a:solidFill>
                <a:srgbClr val="44444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7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70584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6ECEF-FD3D-B94A-497C-BDDA631A6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6AF75-E7A6-3838-4EAC-9F976C85F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BC52C-03C0-028F-0633-C9920C1C1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FI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93634-6AB8-29DB-A978-130346A7F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8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04133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9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01701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04E17-E86F-7663-2498-40FCBE24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91757-3D0F-FDFA-18CD-7776BA227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E233A-9740-5A63-D8EB-E4ABA3552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/>
              <a:t>Shannon entropy </a:t>
            </a:r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BF2A0-5CFC-C7C5-FBA7-71977E640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10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1552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6BC9E-1DEE-8A9D-6685-C8C50F1C0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B546B0-5AD5-A457-00B3-0457CA78F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DC7F8-7732-BC12-ECD9-4DE74F17F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682FF-096F-A657-5B9E-DD6BD7B39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11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366819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12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90951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13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97161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7EC0A-8E23-5E9C-0B36-AD4CA3368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79A81-BE12-CE76-420D-BB1FAB40C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0C47C-819F-E933-7576-A289A5BF2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FI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Elo changes slowly between matches, so short-term staleness is tolerable, but an undetected prolonged outage could introduce feature drift.</a:t>
            </a:r>
            <a:endParaRPr lang="en-FI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FI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FI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Dual-source desynchronization:</a:t>
            </a:r>
            <a:r>
              <a:rPr lang="en-FI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API-Football and eloratings.net use different team names, country codes, and update cadences.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merge_asof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always joins the most recent Elo observation before match date, so an early Elo update does not leak post-match information.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 name mapping relies on a manually curated csv. Changes have to be added manually, but are rare (last ones Macedonia to North Macedonia and Swaziland to Eswatini in 2018)</a:t>
            </a:r>
            <a:endParaRPr lang="en-FI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90E72-D84D-04D2-A190-D1CFF1836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14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06623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F0423-3257-9516-5AAA-AD208B7A0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D05A2-9C6B-C403-37DF-B2AE39EE9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2C73F-BA76-A57E-A0ED-D7EB9E530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I" dirty="0"/>
              <a:t>H1: Elo difference 10x – 100x more important than the next feature</a:t>
            </a:r>
          </a:p>
          <a:p>
            <a:endParaRPr lang="en-FI" dirty="0"/>
          </a:p>
          <a:p>
            <a:r>
              <a:rPr lang="en-FI" dirty="0"/>
              <a:t>H2: Bivariate Poisson GLM and Negative Binomial GLM among lowest CCV NLL, competetive for RPS</a:t>
            </a:r>
          </a:p>
          <a:p>
            <a:endParaRPr lang="en-FI" dirty="0"/>
          </a:p>
          <a:p>
            <a:r>
              <a:rPr lang="en-FI" dirty="0"/>
              <a:t>H3: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dirty="0"/>
              <a:t>1D CNN by far worst-performing model in every metric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dirty="0"/>
              <a:t>LSTM competetive for RPS and with highest accuracy (but could be noise)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FI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FI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FI" dirty="0"/>
              <a:t>H4: </a:t>
            </a:r>
            <a:r>
              <a:rPr lang="en-FI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confirmed, priobably because of the pipeline design.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FI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implementation collapses the Bayesian posterior to point-estimate λ means before building the Poisson grid, so the theoretical calibration advantage cannot really manifest.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FI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 Work: </a:t>
            </a:r>
            <a:r>
              <a:rPr lang="en-FI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 posterior predictive integration is something worth testing</a:t>
            </a:r>
            <a:endParaRPr lang="en-FI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FI" dirty="0"/>
              <a:t>(sampling scorelines directly from posterior)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B0CDE-4E2C-C773-D268-4D2AC2069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15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1810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40D9D56B-380E-41B8-9315-ED5CBC9E4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8" cy="6858000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7638" y="2553066"/>
            <a:ext cx="6212793" cy="338182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4" name="Kuva 3" descr="Tampere University.">
            <a:extLst>
              <a:ext uri="{FF2B5EF4-FFF2-40B4-BE49-F238E27FC236}">
                <a16:creationId xmlns:a16="http://schemas.microsoft.com/office/drawing/2014/main" id="{F4B581D9-6573-401D-B01B-EC70ACF75D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0000" y="1080000"/>
            <a:ext cx="3721277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37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75">
          <p15:clr>
            <a:srgbClr val="FBAE40"/>
          </p15:clr>
        </p15:guide>
        <p15:guide id="3" pos="7605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40D9D56B-380E-41B8-9315-ED5CBC9E4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863" y="2758440"/>
            <a:ext cx="11090275" cy="144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7589" y="4435972"/>
            <a:ext cx="11083550" cy="1440000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EEF2D1E-9D26-4178-9CD9-82D802C125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AC67BEA-6EFD-4E49-843A-63C8CA4D1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843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75">
          <p15:clr>
            <a:srgbClr val="FBAE40"/>
          </p15:clr>
        </p15:guide>
        <p15:guide id="3" pos="7605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863" y="2757600"/>
            <a:ext cx="11090275" cy="144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5400">
                <a:solidFill>
                  <a:srgbClr val="4E008E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7589" y="4435200"/>
            <a:ext cx="11083550" cy="1440000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rgbClr val="4E008E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2D621D0-61E7-E946-BBC9-24D91EEA5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8BB0235-0F5A-40FA-B663-F054FD106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E0BDB65-6D51-44F4-970C-428F139C6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1463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75">
          <p15:clr>
            <a:srgbClr val="FBAE40"/>
          </p15:clr>
        </p15:guide>
        <p15:guide id="3" pos="7605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11723"/>
            <a:ext cx="10515600" cy="645616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400" y="1707297"/>
            <a:ext cx="10515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3405FCAB-7A18-034B-9743-CFD67A11D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EC2DD84-1BF6-4E3C-BCC3-08913B1A45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6B2755C-0223-4E55-9084-FF6941279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357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2E511953-F32B-4B5F-9EC2-2431EB03F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11723"/>
            <a:ext cx="10515600" cy="6456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400" y="1707297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E01EC75-0511-4C59-AFDC-B169D9524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4711C01-20AD-4C7D-A906-DDBC6C93E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49CC18-975B-4218-9BEB-3D804548A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921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08051"/>
            <a:ext cx="10655486" cy="649288"/>
          </a:xfrm>
          <a:prstGeom prst="rect">
            <a:avLst/>
          </a:prstGeom>
        </p:spPr>
        <p:txBody>
          <a:bodyPr anchor="t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04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399" y="1825625"/>
            <a:ext cx="5387465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5ECB8C9-6F71-8745-9B9D-ED3B992FA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BCE51E9-C67C-4EF8-826E-F1A4EE04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05DAC9A-9264-4E96-A741-2D8DA1F06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4499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351703-006A-624D-9F66-D3B3015E7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08051"/>
            <a:ext cx="10643348" cy="649288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0400" y="1706400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706400"/>
            <a:ext cx="5392738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8398AE9-4026-46A2-BBA1-AAB09718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9AE78F3E-1AD5-409A-90E2-A126A9F8418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EFCCDBD-D833-4FF5-A833-32B63E903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425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16517"/>
            <a:ext cx="10650635" cy="649288"/>
          </a:xfrm>
          <a:prstGeom prst="rect">
            <a:avLst/>
          </a:prstGeom>
        </p:spPr>
        <p:txBody>
          <a:bodyPr anchor="t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0400" y="1700214"/>
            <a:ext cx="5157787" cy="8048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400" y="2647950"/>
            <a:ext cx="5157787" cy="354171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81687" y="1700214"/>
            <a:ext cx="5183188" cy="8048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81687" y="2647950"/>
            <a:ext cx="5183188" cy="3541714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Footer Placeholder 10">
            <a:extLst>
              <a:ext uri="{FF2B5EF4-FFF2-40B4-BE49-F238E27FC236}">
                <a16:creationId xmlns:a16="http://schemas.microsoft.com/office/drawing/2014/main" id="{20D11757-AD21-8C44-BA47-2C7CCF6BD25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67BC55-B784-4D84-8769-21885DB5752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1527A28-514A-4E4D-B9BB-80131B1DE74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8849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EB8D2C57-C1F3-4D95-825E-2E55BFB96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16517"/>
            <a:ext cx="10642163" cy="64928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0400" y="1700214"/>
            <a:ext cx="5157787" cy="8048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400" y="2647950"/>
            <a:ext cx="5157787" cy="3541713"/>
          </a:xfrm>
        </p:spPr>
        <p:txBody>
          <a:bodyPr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73216" y="1700214"/>
            <a:ext cx="5183188" cy="8048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73216" y="2647950"/>
            <a:ext cx="5183188" cy="3541714"/>
          </a:xfrm>
        </p:spPr>
        <p:txBody>
          <a:bodyPr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CA17208-6DE2-4F5B-B757-D5C3A176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83CFA40-FCD9-4A03-A580-D0EEA649400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AACA649-1609-4824-AF1D-CF39DED724D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48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14401"/>
            <a:ext cx="10651813" cy="642938"/>
          </a:xfrm>
          <a:prstGeom prst="rect">
            <a:avLst/>
          </a:prstGeom>
        </p:spPr>
        <p:txBody>
          <a:bodyPr anchor="t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7B513FB-A89D-4CD9-816A-A2426574F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7FC877C-D72B-4FA2-A4D8-10EC144C4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A96801F-E137-4B25-94D7-4851FADECBA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3132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DF54673-9ACE-45BB-89AE-4DF9D1200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14401"/>
            <a:ext cx="10643351" cy="642938"/>
          </a:xfrm>
          <a:prstGeom prst="rect">
            <a:avLst/>
          </a:prstGeo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0BA03E9-7771-435A-ACF2-791A64625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A061E97-8041-4B8C-84EB-4224E0AC8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E88A044-4865-4080-A1DB-4D812EAA9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484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1F2527F-684A-4121-9363-8807B0AFD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306364A-3632-4E1B-8113-A8981F3C5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DFF5CBD4-0D40-46CB-83FF-1C58DD7870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32917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6A4069F-7B77-435A-A9D6-CD64E2434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737735C-1BFC-5948-A4B6-6B9D9DF1DAD9}"/>
              </a:ext>
            </a:extLst>
          </p:cNvPr>
          <p:cNvSpPr txBox="1">
            <a:spLocks/>
          </p:cNvSpPr>
          <p:nvPr userDrawn="1"/>
        </p:nvSpPr>
        <p:spPr>
          <a:xfrm>
            <a:off x="430580" y="6506631"/>
            <a:ext cx="6779559" cy="251947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fi-FI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i-FI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86E1A08-E0B6-4CF0-9B54-F868C9DF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8C7C9B07-1287-4DA9-8EE6-AAC6DE8166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8697E018-CB7F-48B9-B44F-8C4B55AF6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646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199A30-D9CF-F04F-AD6E-EFD6A331F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36422"/>
            <a:ext cx="11914022" cy="622157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A31E617-3DD2-45F9-87A9-28710F458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23AE687-7288-4989-808B-BBFE1801B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C9304CA3-67E1-4FC8-9377-97D39A8697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628633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08050"/>
            <a:ext cx="3932237" cy="11493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2964" y="908050"/>
            <a:ext cx="7092900" cy="4960938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0400" y="2172614"/>
            <a:ext cx="3932237" cy="3696374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9A114AA-0FC1-4BDA-A87A-450D91C74D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8A440A0-2DFA-4694-8E9A-F37821D64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B3199E04-FCC9-48F1-9FFB-2F71AFADEA9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20778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FB501874-212D-43E0-A21F-C912819BD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0400" y="908050"/>
            <a:ext cx="3932237" cy="11493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Muokkaa ots. peruasdasdasdasdstyyl. napsautt.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1431" y="908050"/>
            <a:ext cx="7084433" cy="4960938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0400" y="2172614"/>
            <a:ext cx="3932237" cy="3696374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B0FB749-BBFE-438A-B34D-304382F9D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D16047A-E530-4F76-BE04-5DB0A3040E2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7B2D6AA-88A2-4EE8-91D4-604C9EE54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326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899770"/>
            <a:ext cx="10515600" cy="66010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0400" y="1707297"/>
            <a:ext cx="10515600" cy="4351338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A817179-6464-4F21-9B03-3D32D962B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353961E-5198-4EC6-84CF-7D796EA3D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0F202A3E-9DD7-4C20-B920-B130C51F616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78329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0A482-DF25-4AC1-93FF-A21A43ED8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899770"/>
            <a:ext cx="10515600" cy="6601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0400" y="1707297"/>
            <a:ext cx="10515600" cy="43513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08E8C6C-B535-4624-AE36-E7AA2DD3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7D573219-6138-48B9-B6B4-28078E664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093FE60-FDE5-4FFB-BA0D-01896B739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4949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908049"/>
            <a:ext cx="2628900" cy="5268914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908049"/>
            <a:ext cx="7734300" cy="5268913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A231356-4E89-42FF-B9D2-5276EA40A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294DD31-33A4-4715-9A6D-15C4AF304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FEC80EF1-75D1-469D-8A92-4BE196BAFDB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161051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6C69A4-9805-44B9-86C2-D0BEF1B39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908049"/>
            <a:ext cx="2628900" cy="5268914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908049"/>
            <a:ext cx="7734300" cy="5268913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D6E3F5C-87B6-4EC2-BBE3-B9D1C41B9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EC882A-A2D2-46CB-99A6-60BC54D85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5571256-36CB-4721-8D5D-45CF8D5DF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7663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08050"/>
            <a:ext cx="3932237" cy="11493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22800" y="914275"/>
            <a:ext cx="7018337" cy="495471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0400" y="2223820"/>
            <a:ext cx="3932237" cy="3645167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03500BF-A2C1-4F36-A443-35E1074B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03234A5-5678-4107-B6E4-4D194E2EC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AEB90590-21DA-48A3-904A-917FC50EB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19989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DF7A597D-CD79-4B30-894C-1B2608609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08050"/>
            <a:ext cx="3932237" cy="11493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14333" y="914275"/>
            <a:ext cx="7021530" cy="495471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0400" y="2223820"/>
            <a:ext cx="3932237" cy="364516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E06352D-B086-43FE-8FC5-AC6B4EA8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FC39A97-01AE-4D0D-B345-8CBA52274616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C76E15C-8063-441E-A2E0-1EBFFF54D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591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captio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3679" y="1143245"/>
            <a:ext cx="4853934" cy="3149671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4E008E"/>
                </a:solidFill>
              </a:defRPr>
            </a:lvl1pPr>
          </a:lstStyle>
          <a:p>
            <a:r>
              <a:rPr lang="en-GB" noProof="0"/>
              <a:t>This is a place for a longer text that goes on for three or more lines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B8C4556-08AF-304E-8426-06F9F8EFF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267" y="1312457"/>
            <a:ext cx="5040000" cy="48906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17F52D9-8B1E-4F7F-AA8C-39AD4EB47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B5273A0-B2DF-4C71-84F5-8A0CABCD5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D3A36DE0-5C27-4F2F-B628-D82AEFA8D89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897179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caption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D4B79723-8A28-41DA-8158-47C40BEA1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9144" y="1129720"/>
            <a:ext cx="4853934" cy="3149671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This is a place for a longer text that goes on for three or more lines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B8C4556-08AF-304E-8426-06F9F8EFF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804" y="1320928"/>
            <a:ext cx="5040000" cy="48906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0B3E6F3-32BA-42D1-BB7C-49EDFDFBC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62A019B-6E71-4FF6-8233-F4C9562575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D7264E8-D67F-450D-B5B3-7C3FE5CFB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475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caption and pictur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3A1E0F-9E5E-9745-BEF2-2CE041671C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37201" y="908050"/>
            <a:ext cx="6103938" cy="52817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0708" y="792399"/>
            <a:ext cx="4957631" cy="1909269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This is a place for a longer text with big font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3E05CB-C7A1-A342-B41E-5EE8CD4216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8363" y="2960016"/>
            <a:ext cx="4849977" cy="32297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84F16D1-C984-4655-8258-D6EF6AF7D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0ACAF84-7C25-4838-BB2E-3953315E6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7F734B17-F190-4E9B-912E-CA33643B1B5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063292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caption and picture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782EC1E3-2963-4D1C-A09D-168216C66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3E05CB-C7A1-A342-B41E-5EE8CD4216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6893" y="2960016"/>
            <a:ext cx="4857292" cy="32224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3A1E0F-9E5E-9745-BEF2-2CE041671C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28733" y="908050"/>
            <a:ext cx="6112405" cy="52732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65" y="775657"/>
            <a:ext cx="4955519" cy="1909269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This is a place for a longer text with big font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35FED0F-203A-4399-B1A6-E36F6BDBF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7E17269-133F-4041-8E1C-C34F81D99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09F9ABA-0045-4D3B-9E43-6CE8DD7F6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868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and text_1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83AB547-0C6F-394C-8BEF-5A6F3FBA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43" y="908050"/>
            <a:ext cx="10506697" cy="649288"/>
          </a:xfrm>
          <a:prstGeom prst="rect">
            <a:avLst/>
          </a:prstGeom>
        </p:spPr>
        <p:txBody>
          <a:bodyPr anchor="t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779FD3A-6E17-1D47-8E91-0B127B4332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9077" y="1931988"/>
            <a:ext cx="2502487" cy="15236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fi-FI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8C0298E-F14A-6845-92C8-38BD03C683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9077" y="3455625"/>
            <a:ext cx="2502487" cy="2633662"/>
          </a:xfrm>
          <a:solidFill>
            <a:srgbClr val="EFEFEF"/>
          </a:solidFill>
        </p:spPr>
        <p:txBody>
          <a:bodyPr lIns="144000" tIns="216000" rIns="144000" bIns="216000">
            <a:no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314325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2pPr>
            <a:lvl3pPr marL="671513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027112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4pPr>
            <a:lvl5pPr marL="1336675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558BD131-E1E6-6B4A-8A43-7499BB4F444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03849" y="1931988"/>
            <a:ext cx="2502487" cy="152363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fi-FI" dirty="0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97DB071B-9088-9940-8EEF-A7349739FA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03849" y="3455625"/>
            <a:ext cx="2502487" cy="2633662"/>
          </a:xfrm>
          <a:solidFill>
            <a:srgbClr val="EFEFEF"/>
          </a:solidFill>
        </p:spPr>
        <p:txBody>
          <a:bodyPr lIns="144000" tIns="216000" rIns="144000" bIns="216000"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314325" indent="0">
              <a:lnSpc>
                <a:spcPct val="100000"/>
              </a:lnSpc>
              <a:buNone/>
              <a:defRPr sz="1600"/>
            </a:lvl2pPr>
            <a:lvl3pPr marL="671513" indent="0">
              <a:lnSpc>
                <a:spcPct val="100000"/>
              </a:lnSpc>
              <a:buNone/>
              <a:defRPr sz="1600"/>
            </a:lvl3pPr>
            <a:lvl4pPr marL="1027112" indent="0">
              <a:lnSpc>
                <a:spcPct val="100000"/>
              </a:lnSpc>
              <a:buNone/>
              <a:defRPr sz="1600"/>
            </a:lvl4pPr>
            <a:lvl5pPr marL="1336675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91EB564-08EC-084A-85ED-67955978534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866181" y="1931988"/>
            <a:ext cx="2502487" cy="152363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fi-FI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D5E66258-07E1-E642-A305-89957CDCCF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6181" y="3455625"/>
            <a:ext cx="2502487" cy="2633662"/>
          </a:xfrm>
          <a:solidFill>
            <a:srgbClr val="EFEFEF"/>
          </a:solidFill>
        </p:spPr>
        <p:txBody>
          <a:bodyPr lIns="144000" tIns="216000" rIns="144000" bIns="216000"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314325" indent="0">
              <a:lnSpc>
                <a:spcPct val="100000"/>
              </a:lnSpc>
              <a:buNone/>
              <a:defRPr sz="1600"/>
            </a:lvl2pPr>
            <a:lvl3pPr marL="671513" indent="0">
              <a:lnSpc>
                <a:spcPct val="100000"/>
              </a:lnSpc>
              <a:buNone/>
              <a:defRPr sz="1600"/>
            </a:lvl3pPr>
            <a:lvl4pPr marL="1027112" indent="0">
              <a:lnSpc>
                <a:spcPct val="100000"/>
              </a:lnSpc>
              <a:buNone/>
              <a:defRPr sz="1600"/>
            </a:lvl4pPr>
            <a:lvl5pPr marL="1336675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DAC2486-1BBC-E148-8A6A-A96E0924C82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528513" y="1933860"/>
            <a:ext cx="2502487" cy="152363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fi-FI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1A3268F3-BC79-314A-9049-89ABFE4885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528513" y="3457497"/>
            <a:ext cx="2502487" cy="2633662"/>
          </a:xfrm>
          <a:solidFill>
            <a:srgbClr val="EFEFEF"/>
          </a:solidFill>
        </p:spPr>
        <p:txBody>
          <a:bodyPr lIns="144000" tIns="216000" rIns="144000" bIns="216000"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314325" indent="0">
              <a:lnSpc>
                <a:spcPct val="100000"/>
              </a:lnSpc>
              <a:buNone/>
              <a:defRPr sz="1600"/>
            </a:lvl2pPr>
            <a:lvl3pPr marL="671513" indent="0">
              <a:lnSpc>
                <a:spcPct val="100000"/>
              </a:lnSpc>
              <a:buNone/>
              <a:defRPr sz="1600"/>
            </a:lvl3pPr>
            <a:lvl4pPr marL="1027112" indent="0">
              <a:lnSpc>
                <a:spcPct val="100000"/>
              </a:lnSpc>
              <a:buNone/>
              <a:defRPr sz="1600"/>
            </a:lvl4pPr>
            <a:lvl5pPr marL="1336675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6BEA95B-149A-4378-99A8-4A3778EC0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CEF878AF-8D06-4EF3-883F-34F2EFF16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Footer Placeholder 10">
            <a:extLst>
              <a:ext uri="{FF2B5EF4-FFF2-40B4-BE49-F238E27FC236}">
                <a16:creationId xmlns:a16="http://schemas.microsoft.com/office/drawing/2014/main" id="{5FB341E1-B4C6-4A8F-95EC-40D3CF9664A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60357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and text_2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83AB547-0C6F-394C-8BEF-5A6F3FBA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43" y="908050"/>
            <a:ext cx="10506697" cy="649288"/>
          </a:xfrm>
          <a:prstGeom prst="rect">
            <a:avLst/>
          </a:prstGeom>
        </p:spPr>
        <p:txBody>
          <a:bodyPr anchor="t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779FD3A-6E17-1D47-8E91-0B127B4332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9078" y="1931988"/>
            <a:ext cx="3231889" cy="1593882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fi-FI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8C0298E-F14A-6845-92C8-38BD03C683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9078" y="3455625"/>
            <a:ext cx="3231889" cy="2755084"/>
          </a:xfrm>
          <a:solidFill>
            <a:srgbClr val="EFEFEF"/>
          </a:solidFill>
        </p:spPr>
        <p:txBody>
          <a:bodyPr lIns="144000" tIns="216000" rIns="144000" bIns="216000"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314325" indent="0">
              <a:lnSpc>
                <a:spcPct val="100000"/>
              </a:lnSpc>
              <a:buNone/>
              <a:defRPr sz="1600"/>
            </a:lvl2pPr>
            <a:lvl3pPr marL="671513" indent="0">
              <a:lnSpc>
                <a:spcPct val="100000"/>
              </a:lnSpc>
              <a:buNone/>
              <a:defRPr sz="1600"/>
            </a:lvl3pPr>
            <a:lvl4pPr marL="1027112" indent="0">
              <a:lnSpc>
                <a:spcPct val="100000"/>
              </a:lnSpc>
              <a:buNone/>
              <a:defRPr sz="1600"/>
            </a:lvl4pPr>
            <a:lvl5pPr marL="1336675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5111911C-6CB3-AD44-A987-239427CE40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9788" y="1931988"/>
            <a:ext cx="3231889" cy="1593882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fi-FI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B81E064-8551-694A-8FD5-C523BEB10D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69788" y="3455625"/>
            <a:ext cx="3231889" cy="2755084"/>
          </a:xfrm>
          <a:solidFill>
            <a:srgbClr val="EFEFEF"/>
          </a:solidFill>
        </p:spPr>
        <p:txBody>
          <a:bodyPr lIns="144000" tIns="216000" rIns="144000" bIns="216000"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314325" indent="0">
              <a:lnSpc>
                <a:spcPct val="100000"/>
              </a:lnSpc>
              <a:buNone/>
              <a:defRPr sz="1600"/>
            </a:lvl2pPr>
            <a:lvl3pPr marL="671513" indent="0">
              <a:lnSpc>
                <a:spcPct val="100000"/>
              </a:lnSpc>
              <a:buNone/>
              <a:defRPr sz="1600"/>
            </a:lvl3pPr>
            <a:lvl4pPr marL="1027112" indent="0">
              <a:lnSpc>
                <a:spcPct val="100000"/>
              </a:lnSpc>
              <a:buNone/>
              <a:defRPr sz="1600"/>
            </a:lvl4pPr>
            <a:lvl5pPr marL="1336675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E37D0D04-EE41-5F42-BA3B-67ED3166C67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10498" y="1931988"/>
            <a:ext cx="3231889" cy="1593882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fi-FI" dirty="0"/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C7609D31-2B9E-9841-9A07-1A4FC70457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410498" y="3455625"/>
            <a:ext cx="3231889" cy="2755084"/>
          </a:xfrm>
          <a:solidFill>
            <a:srgbClr val="EFEFEF"/>
          </a:solidFill>
        </p:spPr>
        <p:txBody>
          <a:bodyPr lIns="144000" tIns="216000" rIns="144000" bIns="216000"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314325" indent="0">
              <a:lnSpc>
                <a:spcPct val="100000"/>
              </a:lnSpc>
              <a:buNone/>
              <a:defRPr sz="1600"/>
            </a:lvl2pPr>
            <a:lvl3pPr marL="671513" indent="0">
              <a:lnSpc>
                <a:spcPct val="100000"/>
              </a:lnSpc>
              <a:buNone/>
              <a:defRPr sz="1600"/>
            </a:lvl3pPr>
            <a:lvl4pPr marL="1027112" indent="0">
              <a:lnSpc>
                <a:spcPct val="100000"/>
              </a:lnSpc>
              <a:buNone/>
              <a:defRPr sz="1600"/>
            </a:lvl4pPr>
            <a:lvl5pPr marL="1336675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32E84F1-B479-4DA5-B79A-E1AAD0184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BF1F0F-97EF-4D74-A4D0-217EA478D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Footer Placeholder 10">
            <a:extLst>
              <a:ext uri="{FF2B5EF4-FFF2-40B4-BE49-F238E27FC236}">
                <a16:creationId xmlns:a16="http://schemas.microsoft.com/office/drawing/2014/main" id="{74C35F04-76D4-4B98-A67F-2CB880FD6A9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240063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895A594-3BD2-D54E-93FD-6F7FCA50C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339" y="2835805"/>
            <a:ext cx="10660250" cy="1820862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>
              <a:defRPr sz="5400">
                <a:solidFill>
                  <a:srgbClr val="4E008E"/>
                </a:solidFill>
              </a:defRPr>
            </a:lvl1pPr>
          </a:lstStyle>
          <a:p>
            <a:r>
              <a:rPr lang="en-GB" noProof="0"/>
              <a:t>“Insert </a:t>
            </a:r>
            <a:br>
              <a:rPr lang="en-GB" noProof="0"/>
            </a:br>
            <a:r>
              <a:rPr lang="en-GB" noProof="0"/>
              <a:t>text here.”</a:t>
            </a:r>
          </a:p>
        </p:txBody>
      </p:sp>
      <p:sp>
        <p:nvSpPr>
          <p:cNvPr id="13" name="Tekstin paikkamerkki 2"/>
          <p:cNvSpPr>
            <a:spLocks noGrp="1"/>
          </p:cNvSpPr>
          <p:nvPr>
            <p:ph type="body" sz="quarter" idx="11" hasCustomPrompt="1"/>
          </p:nvPr>
        </p:nvSpPr>
        <p:spPr>
          <a:xfrm>
            <a:off x="668338" y="4784723"/>
            <a:ext cx="10660062" cy="14400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>
                <a:solidFill>
                  <a:srgbClr val="4E008E"/>
                </a:solidFill>
              </a:defRPr>
            </a:lvl1pPr>
            <a:lvl2pPr marL="314325" indent="0" algn="r">
              <a:buFontTx/>
              <a:buNone/>
              <a:defRPr/>
            </a:lvl2pPr>
            <a:lvl3pPr marL="671513" indent="0" algn="r">
              <a:buFontTx/>
              <a:buNone/>
              <a:defRPr/>
            </a:lvl3pPr>
            <a:lvl4pPr marL="1027112" indent="0" algn="r">
              <a:buFontTx/>
              <a:buNone/>
              <a:defRPr/>
            </a:lvl4pPr>
            <a:lvl5pPr marL="1336675" indent="0" algn="r">
              <a:buFontTx/>
              <a:buNone/>
              <a:defRPr/>
            </a:lvl5pPr>
          </a:lstStyle>
          <a:p>
            <a:pPr lvl="0"/>
            <a:r>
              <a:rPr lang="en-GB" noProof="0"/>
              <a:t>– Firstname Lastname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D54C215-BF9C-463D-8116-5E5F873B8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22651F8-67AD-4CA7-B5C5-141B94156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D38B48EA-3C26-4DE6-8A6F-BD13DFD31C4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004937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CFF25AA6-74E4-4FDC-97D1-348B884E4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802266" y="2683405"/>
            <a:ext cx="10660250" cy="1820862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“Insert </a:t>
            </a:r>
            <a:br>
              <a:rPr lang="en-GB" noProof="0"/>
            </a:br>
            <a:r>
              <a:rPr lang="en-GB" noProof="0"/>
              <a:t>text here.”</a:t>
            </a:r>
          </a:p>
        </p:txBody>
      </p:sp>
      <p:sp>
        <p:nvSpPr>
          <p:cNvPr id="12" name="Tekstin paikkamerkki 13"/>
          <p:cNvSpPr>
            <a:spLocks noGrp="1"/>
          </p:cNvSpPr>
          <p:nvPr>
            <p:ph type="body" sz="quarter" idx="12" hasCustomPrompt="1"/>
          </p:nvPr>
        </p:nvSpPr>
        <p:spPr>
          <a:xfrm>
            <a:off x="802266" y="4606387"/>
            <a:ext cx="10644349" cy="14400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>
                <a:solidFill>
                  <a:schemeClr val="bg1"/>
                </a:solidFill>
              </a:defRPr>
            </a:lvl1pPr>
            <a:lvl2pPr marL="314325" indent="0">
              <a:buFontTx/>
              <a:buNone/>
              <a:defRPr>
                <a:solidFill>
                  <a:schemeClr val="bg1"/>
                </a:solidFill>
              </a:defRPr>
            </a:lvl2pPr>
            <a:lvl3pPr marL="671513" indent="0">
              <a:buFontTx/>
              <a:buNone/>
              <a:defRPr>
                <a:solidFill>
                  <a:schemeClr val="bg1"/>
                </a:solidFill>
              </a:defRPr>
            </a:lvl3pPr>
            <a:lvl4pPr marL="1027112" indent="0">
              <a:buFontTx/>
              <a:buNone/>
              <a:defRPr>
                <a:solidFill>
                  <a:schemeClr val="bg1"/>
                </a:solidFill>
              </a:defRPr>
            </a:lvl4pPr>
            <a:lvl5pPr marL="1336675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algn="r"/>
            <a:r>
              <a:rPr lang="en-GB" noProof="0">
                <a:solidFill>
                  <a:schemeClr val="bg1"/>
                </a:solidFill>
              </a:rPr>
              <a:t>– Firstname Lastname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4DAC962-BCA0-4E26-A90A-EC7C6038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B84C95F-B250-4250-A075-AEF10367FC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26F114B-97C9-4F70-8E58-1AFA5B8E3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312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B2510EA-1654-E84D-A789-CFF2920E0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36422"/>
            <a:ext cx="11914022" cy="622157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9B4DE-33B9-0041-8077-678234364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510" y="1569142"/>
            <a:ext cx="9690754" cy="40607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sx="74000" sy="74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3A1E0F-9E5E-9745-BEF2-2CE041671C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63233" y="1883432"/>
            <a:ext cx="2401642" cy="3424232"/>
          </a:xfrm>
          <a:solidFill>
            <a:srgbClr val="7DCDBE"/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D4BC1B-C1D1-4F41-B9B7-335D450148A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2126" y="1569143"/>
            <a:ext cx="6827907" cy="816758"/>
          </a:xfrm>
        </p:spPr>
        <p:txBody>
          <a:bodyPr anchor="b" anchorCtr="0">
            <a:noAutofit/>
          </a:bodyPr>
          <a:lstStyle>
            <a:lvl1pPr marL="0" indent="0">
              <a:buNone/>
              <a:defRPr sz="3200" b="1">
                <a:solidFill>
                  <a:srgbClr val="4E008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Firstname Lastname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2938A8D-D773-5142-92B9-89D818060D6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02130" y="2385899"/>
            <a:ext cx="6827904" cy="365134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rgbClr val="7DCDBE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A126850-0A2D-214C-8173-B9D9A2BCD6CD}"/>
              </a:ext>
            </a:extLst>
          </p:cNvPr>
          <p:cNvCxnSpPr/>
          <p:nvPr userDrawn="1"/>
        </p:nvCxnSpPr>
        <p:spPr>
          <a:xfrm>
            <a:off x="4868747" y="2984293"/>
            <a:ext cx="0" cy="2319489"/>
          </a:xfrm>
          <a:prstGeom prst="line">
            <a:avLst/>
          </a:prstGeom>
          <a:ln w="3175">
            <a:solidFill>
              <a:srgbClr val="4E00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9D0D4C-BB57-D348-99EE-61BD94E3A5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02127" y="2915308"/>
            <a:ext cx="3183740" cy="23923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  <a:lvl2pPr marL="314325" indent="0">
              <a:lnSpc>
                <a:spcPct val="100000"/>
              </a:lnSpc>
              <a:buNone/>
              <a:defRPr sz="2000"/>
            </a:lvl2pPr>
            <a:lvl3pPr marL="671513" indent="0">
              <a:lnSpc>
                <a:spcPct val="100000"/>
              </a:lnSpc>
              <a:buNone/>
              <a:defRPr sz="2000"/>
            </a:lvl3pPr>
            <a:lvl4pPr marL="1027112" indent="0">
              <a:lnSpc>
                <a:spcPct val="100000"/>
              </a:lnSpc>
              <a:buNone/>
              <a:defRPr sz="2000"/>
            </a:lvl4pPr>
            <a:lvl5pPr marL="1336675" indent="0">
              <a:lnSpc>
                <a:spcPct val="100000"/>
              </a:lnSpc>
              <a:buNone/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282D1424-0632-DE42-8831-FEFEDCC907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46294" y="2914199"/>
            <a:ext cx="3183740" cy="23935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  <a:lvl2pPr marL="314325" indent="0">
              <a:lnSpc>
                <a:spcPct val="100000"/>
              </a:lnSpc>
              <a:buNone/>
              <a:defRPr sz="2000"/>
            </a:lvl2pPr>
            <a:lvl3pPr marL="671513" indent="0">
              <a:lnSpc>
                <a:spcPct val="100000"/>
              </a:lnSpc>
              <a:buNone/>
              <a:defRPr sz="2000"/>
            </a:lvl3pPr>
            <a:lvl4pPr marL="1027112" indent="0">
              <a:lnSpc>
                <a:spcPct val="100000"/>
              </a:lnSpc>
              <a:buNone/>
              <a:defRPr sz="2000"/>
            </a:lvl4pPr>
            <a:lvl5pPr marL="1336675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66ED82B-11B6-41FE-87C7-2B5722E38F87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69F5273-5630-41AF-BBE6-A465425B1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Footer Placeholder 10">
            <a:extLst>
              <a:ext uri="{FF2B5EF4-FFF2-40B4-BE49-F238E27FC236}">
                <a16:creationId xmlns:a16="http://schemas.microsoft.com/office/drawing/2014/main" id="{9A05E985-5042-48F0-9519-B76D1E94048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76896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A96305A-4729-C241-80A5-A3957FB9D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923" y="628650"/>
            <a:ext cx="11892077" cy="622935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2AACA4F-50A2-4213-AE5B-26622BDBF93E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9179ABD-0CDD-4487-ADD9-0679BFCE2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0BCA9A8C-35F5-4107-B91B-A52435FB7E9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33392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75">
          <p15:clr>
            <a:srgbClr val="FBAE40"/>
          </p15:clr>
        </p15:guide>
        <p15:guide id="3" pos="7605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EN -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40D9D56B-380E-41B8-9315-ED5CBC9E4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8" cy="6858000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074A7632-0B5B-4DF2-9411-9E0ADFA061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16714" y="1879326"/>
            <a:ext cx="2225901" cy="3114035"/>
          </a:xfrm>
          <a:prstGeom prst="rect">
            <a:avLst/>
          </a:prstGeom>
        </p:spPr>
      </p:pic>
      <p:sp>
        <p:nvSpPr>
          <p:cNvPr id="8" name="Tekstiruutu 7">
            <a:extLst>
              <a:ext uri="{FF2B5EF4-FFF2-40B4-BE49-F238E27FC236}">
                <a16:creationId xmlns:a16="http://schemas.microsoft.com/office/drawing/2014/main" id="{A93BB476-CD94-4029-8F95-5AE34712627B}"/>
              </a:ext>
            </a:extLst>
          </p:cNvPr>
          <p:cNvSpPr txBox="1"/>
          <p:nvPr userDrawn="1"/>
        </p:nvSpPr>
        <p:spPr>
          <a:xfrm>
            <a:off x="5794795" y="2509714"/>
            <a:ext cx="3758780" cy="216982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en-GB" sz="5600" b="1" noProof="0">
                <a:solidFill>
                  <a:schemeClr val="bg1"/>
                </a:solidFill>
              </a:rPr>
              <a:t>Human Potential Unlimited.</a:t>
            </a:r>
          </a:p>
        </p:txBody>
      </p:sp>
    </p:spTree>
    <p:extLst>
      <p:ext uri="{BB962C8B-B14F-4D97-AF65-F5344CB8AC3E}">
        <p14:creationId xmlns:p14="http://schemas.microsoft.com/office/powerpoint/2010/main" val="15685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75">
          <p15:clr>
            <a:srgbClr val="FBAE40"/>
          </p15:clr>
        </p15:guide>
        <p15:guide id="3" pos="7605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0400" y="170729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noProof="0"/>
              <a:t>Muokkaa tekstin perustyylejä napsauttamalla</a:t>
            </a:r>
          </a:p>
          <a:p>
            <a:pPr lvl="1"/>
            <a:r>
              <a:rPr lang="en-GB" noProof="0"/>
              <a:t>toinen taso</a:t>
            </a:r>
          </a:p>
          <a:p>
            <a:pPr lvl="2"/>
            <a:r>
              <a:rPr lang="en-GB" noProof="0"/>
              <a:t>kolmas taso</a:t>
            </a:r>
          </a:p>
          <a:p>
            <a:pPr lvl="3"/>
            <a:r>
              <a:rPr lang="en-GB" noProof="0"/>
              <a:t>neljäs taso</a:t>
            </a:r>
          </a:p>
          <a:p>
            <a:pPr lvl="4"/>
            <a:r>
              <a:rPr lang="en-GB" noProof="0"/>
              <a:t>viides taso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17/05/2026</a:t>
            </a:fld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5E40AAE-D302-7647-9D31-6971CE88E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03743BE5-29C0-A94B-962C-58F60464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911553"/>
            <a:ext cx="10521733" cy="64578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noProof="0"/>
              <a:t>Muokkaa perustyyl. napsautt.</a:t>
            </a:r>
          </a:p>
        </p:txBody>
      </p:sp>
      <p:pic>
        <p:nvPicPr>
          <p:cNvPr id="5" name="Kuva 4" descr="Tampere University.">
            <a:extLst>
              <a:ext uri="{FF2B5EF4-FFF2-40B4-BE49-F238E27FC236}">
                <a16:creationId xmlns:a16="http://schemas.microsoft.com/office/drawing/2014/main" id="{37F13CCF-E858-4691-8DA5-CEDCEA21226F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126000" y="115200"/>
            <a:ext cx="1741557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27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69" r:id="rId2"/>
    <p:sldLayoutId id="2147483781" r:id="rId3"/>
    <p:sldLayoutId id="2147483770" r:id="rId4"/>
    <p:sldLayoutId id="2147483803" r:id="rId5"/>
    <p:sldLayoutId id="2147483772" r:id="rId6"/>
    <p:sldLayoutId id="2147483785" r:id="rId7"/>
    <p:sldLayoutId id="2147483773" r:id="rId8"/>
    <p:sldLayoutId id="2147483786" r:id="rId9"/>
    <p:sldLayoutId id="2147483774" r:id="rId10"/>
    <p:sldLayoutId id="2147483787" r:id="rId11"/>
    <p:sldLayoutId id="2147483775" r:id="rId12"/>
    <p:sldLayoutId id="2147483788" r:id="rId13"/>
    <p:sldLayoutId id="2147483798" r:id="rId14"/>
    <p:sldLayoutId id="2147483776" r:id="rId15"/>
    <p:sldLayoutId id="2147483789" r:id="rId16"/>
    <p:sldLayoutId id="2147483778" r:id="rId17"/>
    <p:sldLayoutId id="2147483795" r:id="rId18"/>
    <p:sldLayoutId id="2147483779" r:id="rId19"/>
    <p:sldLayoutId id="2147483796" r:id="rId20"/>
    <p:sldLayoutId id="2147483777" r:id="rId21"/>
    <p:sldLayoutId id="2147483790" r:id="rId22"/>
    <p:sldLayoutId id="2147483791" r:id="rId23"/>
    <p:sldLayoutId id="2147483780" r:id="rId24"/>
    <p:sldLayoutId id="2147483792" r:id="rId25"/>
    <p:sldLayoutId id="2147483782" r:id="rId26"/>
    <p:sldLayoutId id="2147483800" r:id="rId27"/>
    <p:sldLayoutId id="2147483804" r:id="rId28"/>
    <p:sldLayoutId id="2147483802" r:id="rId29"/>
    <p:sldLayoutId id="2147483805" r:id="rId30"/>
    <p:sldLayoutId id="2147483801" r:id="rId31"/>
    <p:sldLayoutId id="2147483783" r:id="rId32"/>
    <p:sldLayoutId id="2147483807" r:id="rId3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4E008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0975" indent="-18097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488950" indent="-1746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4863" indent="-1333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55700" indent="-1285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70025" indent="-1333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>
          <p15:clr>
            <a:srgbClr val="F26B43"/>
          </p15:clr>
        </p15:guide>
        <p15:guide id="2" pos="7605">
          <p15:clr>
            <a:srgbClr val="F26B43"/>
          </p15:clr>
        </p15:guide>
        <p15:guide id="3" pos="75">
          <p15:clr>
            <a:srgbClr val="F26B43"/>
          </p15:clr>
        </p15:guide>
        <p15:guide id="4" orient="horz" pos="4247">
          <p15:clr>
            <a:srgbClr val="F26B43"/>
          </p15:clr>
        </p15:guide>
        <p15:guide id="5" pos="325">
          <p15:clr>
            <a:srgbClr val="F26B43"/>
          </p15:clr>
        </p15:guide>
        <p15:guide id="6" orient="horz" pos="4088">
          <p15:clr>
            <a:srgbClr val="F26B43"/>
          </p15:clr>
        </p15:guide>
        <p15:guide id="7" pos="6970">
          <p15:clr>
            <a:srgbClr val="F26B43"/>
          </p15:clr>
        </p15:guide>
        <p15:guide id="8" orient="horz" pos="346">
          <p15:clr>
            <a:srgbClr val="F26B43"/>
          </p15:clr>
        </p15:guide>
        <p15:guide id="9" orient="horz" pos="981">
          <p15:clr>
            <a:srgbClr val="F26B43"/>
          </p15:clr>
        </p15:guide>
        <p15:guide id="10" orient="horz" pos="572">
          <p15:clr>
            <a:srgbClr val="F26B43"/>
          </p15:clr>
        </p15:guide>
        <p15:guide id="11" orient="horz" pos="1071">
          <p15:clr>
            <a:srgbClr val="F26B43"/>
          </p15:clr>
        </p15:guide>
        <p15:guide id="12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MLOps</a:t>
            </a:r>
            <a:r>
              <a:rPr dirty="0"/>
              <a:t> for Football</a:t>
            </a:r>
          </a:p>
          <a:p>
            <a:r>
              <a:rPr dirty="0"/>
              <a:t>World Cup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Multi-Model Comparison with Structured Model </a:t>
            </a:r>
            <a:r>
              <a:rPr dirty="0" err="1"/>
              <a:t>Promotio</a:t>
            </a:r>
            <a:r>
              <a:rPr lang="fi-FI" dirty="0"/>
              <a:t>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B9D08-B76C-61EB-5EFB-7D605424E514}"/>
              </a:ext>
            </a:extLst>
          </p:cNvPr>
          <p:cNvSpPr txBox="1"/>
          <p:nvPr/>
        </p:nvSpPr>
        <p:spPr>
          <a:xfrm>
            <a:off x="4037167" y="6113504"/>
            <a:ext cx="4117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>
                <a:solidFill>
                  <a:schemeClr val="bg1"/>
                </a:solidFill>
              </a:rPr>
              <a:t>Tom Farnschläder, Tampere University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219"/>
    </mc:Choice>
    <mc:Fallback>
      <p:transition spd="slow" advTm="132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Motivation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0400" y="1707297"/>
                <a:ext cx="11212016" cy="4351338"/>
              </a:xfrm>
            </p:spPr>
            <p:txBody>
              <a:bodyPr/>
              <a:lstStyle/>
              <a:p>
                <a:r>
                  <a:rPr lang="en-US" sz="1800" noProof="1"/>
                  <a:t>Who will likely win the 2026 FIFA World Cup? And how can we build a robust MLOps system to answer it?</a:t>
                </a:r>
              </a:p>
              <a:p>
                <a:endParaRPr lang="en-US" sz="1800" noProof="1"/>
              </a:p>
              <a:p>
                <a:r>
                  <a:rPr lang="en-US" sz="1800" noProof="1"/>
                  <a:t>Football is difficult to predict (low-scoring sport) [1]</a:t>
                </a:r>
              </a:p>
              <a:p>
                <a:r>
                  <a:rPr lang="en-US" sz="1800" noProof="1"/>
                  <a:t>National team matches are more difficult to predict</a:t>
                </a:r>
              </a:p>
              <a:p>
                <a:pPr lvl="1"/>
                <a:r>
                  <a:rPr lang="en-US" sz="1800" noProof="1"/>
                  <a:t>Only 6–12 matches per team per year → sparse, irregular data</a:t>
                </a:r>
              </a:p>
              <a:p>
                <a:pPr lvl="1"/>
                <a:r>
                  <a:rPr lang="en-US" sz="1800" noProof="1"/>
                  <a:t>Different stakes: Mostly qualifiers; friendlies vs. finals mix in training data</a:t>
                </a:r>
              </a:p>
              <a:p>
                <a:r>
                  <a:rPr lang="en-US" sz="1800" noProof="1"/>
                  <a:t>Expanded World Cup format adds combinatorial bracket uncertainty: Best-third-place rule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180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180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800" noProof="1"/>
                  <a:t> = 495 possible combinations of whose groups’ best thirds advance</a:t>
                </a:r>
              </a:p>
              <a:p>
                <a:pPr lvl="1"/>
                <a:r>
                  <a:rPr lang="en-US" sz="1800" noProof="1"/>
                  <a:t>&gt;60% of K.O. matchups depend on this combination</a:t>
                </a:r>
              </a:p>
              <a:p>
                <a:endParaRPr lang="en-US" sz="1800" noProof="1"/>
              </a:p>
              <a:p>
                <a:r>
                  <a:rPr lang="en-US" sz="1800" noProof="1"/>
                  <a:t>Two contributions:</a:t>
                </a:r>
              </a:p>
              <a:p>
                <a:pPr lvl="1"/>
                <a:r>
                  <a:rPr lang="en-US" sz="1800" noProof="1"/>
                  <a:t>A practical MLOps pipeline: Bronze/Silver/Gold + three-environment model lifecycle</a:t>
                </a:r>
              </a:p>
              <a:p>
                <a:pPr lvl="1"/>
                <a:r>
                  <a:rPr lang="en-US" sz="1800" noProof="1"/>
                  <a:t>Systematic comparison of nine candidate models spanning five families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0400" y="1707297"/>
                <a:ext cx="11212016" cy="4351338"/>
              </a:xfrm>
              <a:blipFill>
                <a:blip r:embed="rId3"/>
                <a:stretch>
                  <a:fillRect l="-339" t="-1453" b="-5523"/>
                </a:stretch>
              </a:blipFill>
            </p:spPr>
            <p:txBody>
              <a:bodyPr/>
              <a:lstStyle/>
              <a:p>
                <a:r>
                  <a:rPr lang="en-FI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6948"/>
    </mc:Choice>
    <mc:Fallback>
      <p:transition spd="slow" advTm="14694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08051"/>
            <a:ext cx="10655486" cy="649288"/>
          </a:xfrm>
        </p:spPr>
        <p:txBody>
          <a:bodyPr anchor="t">
            <a:normAutofit/>
          </a:bodyPr>
          <a:lstStyle/>
          <a:p>
            <a:r>
              <a:rPr dirty="0"/>
              <a:t>Data Pipeline &amp; Feature Engineering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4D2D03-A185-BE60-7FEA-0BD3343C85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59" y="1557339"/>
            <a:ext cx="9687984" cy="5407247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BDB4CC-9A59-E623-C104-5D92F4971671}"/>
              </a:ext>
            </a:extLst>
          </p:cNvPr>
          <p:cNvSpPr txBox="1"/>
          <p:nvPr/>
        </p:nvSpPr>
        <p:spPr>
          <a:xfrm>
            <a:off x="9720775" y="407629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[3]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5DF696-34B0-9F62-7966-78912F91B844}"/>
              </a:ext>
            </a:extLst>
          </p:cNvPr>
          <p:cNvSpPr txBox="1"/>
          <p:nvPr/>
        </p:nvSpPr>
        <p:spPr>
          <a:xfrm>
            <a:off x="9720775" y="22860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[2]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5750"/>
    </mc:Choice>
    <mc:Fallback>
      <p:transition spd="slow" advTm="13575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631D7C-9441-5EB2-ED42-ADA2645C3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71" y="624300"/>
            <a:ext cx="11088029" cy="62337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892364-3BC0-F190-03C6-9B5A715FAE38}"/>
              </a:ext>
            </a:extLst>
          </p:cNvPr>
          <p:cNvSpPr txBox="1">
            <a:spLocks/>
          </p:cNvSpPr>
          <p:nvPr/>
        </p:nvSpPr>
        <p:spPr>
          <a:xfrm>
            <a:off x="0" y="3429000"/>
            <a:ext cx="3304309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0975" indent="-1809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950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indent="-1333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700" indent="-1285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0025" indent="-1333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Google Perspective: Automation Level 1 [4]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Databricks Perspective: [3][5]</a:t>
            </a:r>
          </a:p>
          <a:p>
            <a:r>
              <a:rPr lang="en-US" sz="1800" dirty="0" err="1"/>
              <a:t>Dagshub</a:t>
            </a:r>
            <a:r>
              <a:rPr lang="en-US" sz="1800" dirty="0"/>
              <a:t> → DevOps</a:t>
            </a:r>
          </a:p>
          <a:p>
            <a:r>
              <a:rPr lang="en-US" sz="1800" dirty="0"/>
              <a:t>DVC → </a:t>
            </a:r>
            <a:r>
              <a:rPr lang="en-US" sz="1800" dirty="0" err="1"/>
              <a:t>DataOps</a:t>
            </a:r>
            <a:endParaRPr lang="en-US" sz="1800" dirty="0"/>
          </a:p>
          <a:p>
            <a:r>
              <a:rPr lang="en-US" sz="1800" dirty="0" err="1"/>
              <a:t>MLflow</a:t>
            </a:r>
            <a:r>
              <a:rPr lang="en-US" sz="1800" dirty="0"/>
              <a:t> → </a:t>
            </a:r>
            <a:r>
              <a:rPr lang="en-US" sz="1800" dirty="0" err="1"/>
              <a:t>ModelOps</a:t>
            </a:r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2625" y="98482"/>
            <a:ext cx="10339375" cy="649288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 err="1"/>
              <a:t>MLOps</a:t>
            </a:r>
            <a:r>
              <a:rPr lang="en-GB" dirty="0"/>
              <a:t> Pipeline: Google Automation </a:t>
            </a:r>
            <a:r>
              <a:rPr lang="en-GB" dirty="0" err="1"/>
              <a:t>Lvl</a:t>
            </a:r>
            <a:r>
              <a:rPr lang="en-GB" dirty="0"/>
              <a:t>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6779"/>
    </mc:Choice>
    <mc:Fallback>
      <p:transition spd="slow" advTm="16677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Modeling</a:t>
            </a:r>
            <a:r>
              <a:rPr lang="fi-FI" dirty="0"/>
              <a:t>: </a:t>
            </a:r>
            <a:r>
              <a:rPr dirty="0"/>
              <a:t>Nine Candidate</a:t>
            </a:r>
            <a:r>
              <a:rPr lang="fi-FI" dirty="0"/>
              <a:t> </a:t>
            </a:r>
            <a:r>
              <a:rPr lang="fi-FI" dirty="0" err="1"/>
              <a:t>Models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691640"/>
            <a:ext cx="10515600" cy="914400"/>
          </a:xfrm>
        </p:spPr>
        <p:txBody>
          <a:bodyPr/>
          <a:lstStyle/>
          <a:p>
            <a:pPr marL="0" indent="0">
              <a:buNone/>
            </a:pPr>
            <a:r>
              <a:rPr sz="1800" b="1" dirty="0"/>
              <a:t>Objective</a:t>
            </a:r>
            <a:r>
              <a:rPr lang="fi-FI" sz="1800" b="1" dirty="0"/>
              <a:t>s</a:t>
            </a:r>
            <a:r>
              <a:rPr sz="1800" b="1" dirty="0"/>
              <a:t>: </a:t>
            </a:r>
            <a:endParaRPr lang="fi-FI" sz="1800" b="1" dirty="0"/>
          </a:p>
          <a:p>
            <a:r>
              <a:rPr lang="en-FI" sz="1800" dirty="0"/>
              <a:t>P</a:t>
            </a:r>
            <a:r>
              <a:rPr sz="1800" dirty="0" err="1"/>
              <a:t>redict</a:t>
            </a:r>
            <a:r>
              <a:rPr sz="1800" dirty="0"/>
              <a:t> goal-rate distribution </a:t>
            </a:r>
            <a:r>
              <a:rPr lang="fi-FI" sz="1800" dirty="0"/>
              <a:t>for home </a:t>
            </a:r>
            <a:r>
              <a:rPr lang="fi-FI" sz="1800" dirty="0" err="1"/>
              <a:t>goals</a:t>
            </a:r>
            <a:r>
              <a:rPr lang="fi-FI" sz="1800" dirty="0"/>
              <a:t> and </a:t>
            </a:r>
            <a:r>
              <a:rPr sz="1800" dirty="0"/>
              <a:t>away </a:t>
            </a:r>
            <a:endParaRPr lang="fi-FI" sz="1800" dirty="0"/>
          </a:p>
          <a:p>
            <a:r>
              <a:rPr lang="en-FI" sz="1800" dirty="0"/>
              <a:t>Monte Carlo simulation samples integer scorelines from distributions → derives </a:t>
            </a:r>
            <a:r>
              <a:rPr lang="fi-FI" sz="1800" dirty="0" err="1"/>
              <a:t>outcome</a:t>
            </a:r>
            <a:r>
              <a:rPr lang="fi-FI" sz="1800" dirty="0"/>
              <a:t> (H/D/A)</a:t>
            </a:r>
            <a:endParaRPr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779512"/>
              </p:ext>
            </p:extLst>
          </p:nvPr>
        </p:nvGraphicFramePr>
        <p:xfrm>
          <a:off x="410400" y="2930236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Model Family</a:t>
                      </a: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Candidate Models</a:t>
                      </a: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800" b="1"/>
                        <a:t>Statistical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/>
                        <a:t>Bivariate Poisson GLM</a:t>
                      </a:r>
                      <a:r>
                        <a:rPr lang="fi-FI" sz="1800" b="0" dirty="0"/>
                        <a:t> [6]</a:t>
                      </a:r>
                      <a:r>
                        <a:rPr sz="1800" b="0" dirty="0"/>
                        <a:t>,  Neg</a:t>
                      </a:r>
                      <a:r>
                        <a:rPr lang="fi-FI" sz="1800" b="0" dirty="0" err="1"/>
                        <a:t>ative</a:t>
                      </a:r>
                      <a:r>
                        <a:rPr lang="fi-FI" sz="1800" b="0" dirty="0"/>
                        <a:t> </a:t>
                      </a:r>
                      <a:r>
                        <a:rPr sz="1800" b="0" dirty="0"/>
                        <a:t>Bin</a:t>
                      </a:r>
                      <a:r>
                        <a:rPr lang="fi-FI" sz="1800" b="0" dirty="0" err="1"/>
                        <a:t>omial</a:t>
                      </a:r>
                      <a:r>
                        <a:rPr sz="1800" b="0" dirty="0"/>
                        <a:t> GLM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800" b="1"/>
                        <a:t>Bayesian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/>
                        <a:t>Bayesian Poisson (</a:t>
                      </a:r>
                      <a:r>
                        <a:rPr lang="fi-FI" sz="1800" b="0" dirty="0"/>
                        <a:t>NUTS</a:t>
                      </a:r>
                      <a:r>
                        <a:rPr sz="1800" b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800" b="1"/>
                        <a:t>Time-series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/>
                        <a:t>SARIMAX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800" b="1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/>
                        <a:t>Ridge, Random Forest, </a:t>
                      </a:r>
                      <a:r>
                        <a:rPr sz="1800" b="0" dirty="0" err="1"/>
                        <a:t>XGBoost</a:t>
                      </a:r>
                      <a:endParaRPr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800" b="1" dirty="0"/>
                        <a:t>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/>
                        <a:t>LSTM, 1D CNN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279"/>
    </mc:Choice>
    <mc:Fallback>
      <p:transition spd="slow" advTm="5927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5ABDC-3544-CDBE-BC07-7DE9DA4B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2544D0-AB90-5DFB-4039-BDFF5AB4A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968" y="2132812"/>
            <a:ext cx="9012063" cy="50299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BFD002-68F3-E70A-8CCF-3C666D99B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Modeling</a:t>
            </a:r>
            <a:r>
              <a:rPr lang="fi-FI" dirty="0"/>
              <a:t>: </a:t>
            </a:r>
            <a:r>
              <a:rPr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416CE-CD1E-33DE-5D04-662D1C696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399" y="1714053"/>
            <a:ext cx="11493129" cy="828426"/>
          </a:xfrm>
        </p:spPr>
        <p:txBody>
          <a:bodyPr/>
          <a:lstStyle/>
          <a:p>
            <a:r>
              <a:rPr lang="en-GB" sz="1800" b="1" dirty="0"/>
              <a:t>QA metric (holdout):</a:t>
            </a:r>
            <a:r>
              <a:rPr lang="en-GB" sz="1800" dirty="0"/>
              <a:t> Ranked Probability Score (RPS) to evaluate calibration of W/D/L outcome probabilities</a:t>
            </a:r>
            <a:endParaRPr lang="en-GB" sz="1800" b="1" dirty="0"/>
          </a:p>
          <a:p>
            <a:r>
              <a:rPr lang="en-GB" sz="1800" b="1" dirty="0"/>
              <a:t>Training objective (CV):</a:t>
            </a:r>
            <a:r>
              <a:rPr lang="en-GB" sz="1800" dirty="0"/>
              <a:t> Poisson NLL, which rewards scoreline accuracy in goal-count space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8B3DD-2987-EB4D-943D-87EF5CAE91AF}"/>
              </a:ext>
            </a:extLst>
          </p:cNvPr>
          <p:cNvSpPr txBox="1"/>
          <p:nvPr/>
        </p:nvSpPr>
        <p:spPr>
          <a:xfrm>
            <a:off x="2889517" y="5326123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>
                <a:solidFill>
                  <a:schemeClr val="bg1"/>
                </a:solidFill>
              </a:rPr>
              <a:t>Experimental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188A1-6737-2783-12FB-BA61BF19AD44}"/>
              </a:ext>
            </a:extLst>
          </p:cNvPr>
          <p:cNvSpPr txBox="1"/>
          <p:nvPr/>
        </p:nvSpPr>
        <p:spPr>
          <a:xfrm>
            <a:off x="5836953" y="5326123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>
                <a:solidFill>
                  <a:schemeClr val="bg1"/>
                </a:solidFill>
              </a:rPr>
              <a:t>QA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4C8320-7D70-1D90-FFFC-6544DFB64FA1}"/>
              </a:ext>
            </a:extLst>
          </p:cNvPr>
          <p:cNvSpPr txBox="1"/>
          <p:nvPr/>
        </p:nvSpPr>
        <p:spPr>
          <a:xfrm>
            <a:off x="7340649" y="533210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2417570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505"/>
    </mc:Choice>
    <mc:Fallback>
      <p:transition spd="slow" advTm="14050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Finding 1: </a:t>
            </a:r>
            <a:r>
              <a:rPr lang="fi-FI" dirty="0" err="1"/>
              <a:t>Narrow</a:t>
            </a:r>
            <a:r>
              <a:rPr lang="fi-FI" dirty="0"/>
              <a:t> </a:t>
            </a:r>
            <a:r>
              <a:rPr lang="fi-FI" dirty="0" err="1"/>
              <a:t>Result</a:t>
            </a:r>
            <a:r>
              <a:rPr lang="fi-FI" dirty="0"/>
              <a:t> </a:t>
            </a:r>
            <a:r>
              <a:rPr lang="fi-FI" dirty="0" err="1"/>
              <a:t>Spread</a:t>
            </a:r>
            <a:r>
              <a:rPr lang="fi-FI" dirty="0"/>
              <a:t> and     </a:t>
            </a:r>
            <a:r>
              <a:rPr dirty="0"/>
              <a:t>CV–Holdout Ranking Reversal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115307"/>
              </p:ext>
            </p:extLst>
          </p:nvPr>
        </p:nvGraphicFramePr>
        <p:xfrm>
          <a:off x="410398" y="2211020"/>
          <a:ext cx="10651815" cy="4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5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4673">
                  <a:extLst>
                    <a:ext uri="{9D8B030D-6E8A-4147-A177-3AD203B41FA5}">
                      <a16:colId xmlns:a16="http://schemas.microsoft.com/office/drawing/2014/main" val="517748274"/>
                    </a:ext>
                  </a:extLst>
                </a:gridCol>
                <a:gridCol w="1156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356">
                  <a:extLst>
                    <a:ext uri="{9D8B030D-6E8A-4147-A177-3AD203B41FA5}">
                      <a16:colId xmlns:a16="http://schemas.microsoft.com/office/drawing/2014/main" val="2893260870"/>
                    </a:ext>
                  </a:extLst>
                </a:gridCol>
                <a:gridCol w="1156356">
                  <a:extLst>
                    <a:ext uri="{9D8B030D-6E8A-4147-A177-3AD203B41FA5}">
                      <a16:colId xmlns:a16="http://schemas.microsoft.com/office/drawing/2014/main" val="3019514282"/>
                    </a:ext>
                  </a:extLst>
                </a:gridCol>
                <a:gridCol w="1156356">
                  <a:extLst>
                    <a:ext uri="{9D8B030D-6E8A-4147-A177-3AD203B41FA5}">
                      <a16:colId xmlns:a16="http://schemas.microsoft.com/office/drawing/2014/main" val="1118956838"/>
                    </a:ext>
                  </a:extLst>
                </a:gridCol>
                <a:gridCol w="1156356">
                  <a:extLst>
                    <a:ext uri="{9D8B030D-6E8A-4147-A177-3AD203B41FA5}">
                      <a16:colId xmlns:a16="http://schemas.microsoft.com/office/drawing/2014/main" val="283773428"/>
                    </a:ext>
                  </a:extLst>
                </a:gridCol>
              </a:tblGrid>
              <a:tr h="44892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 err="1">
                          <a:solidFill>
                            <a:srgbClr val="FFFFFF"/>
                          </a:solidFill>
                        </a:rPr>
                        <a:t>Family</a:t>
                      </a:r>
                      <a:endParaRPr sz="1800" b="1" dirty="0">
                        <a:solidFill>
                          <a:srgbClr val="FFFFFF"/>
                        </a:solidFill>
                      </a:endParaRP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>
                          <a:solidFill>
                            <a:srgbClr val="FFFFFF"/>
                          </a:solidFill>
                        </a:rPr>
                        <a:t>CV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NLL</a:t>
                      </a: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>
                          <a:solidFill>
                            <a:srgbClr val="FFFFFF"/>
                          </a:solidFill>
                        </a:rPr>
                        <a:t>CV Rank</a:t>
                      </a:r>
                      <a:endParaRPr sz="1800" b="1" dirty="0">
                        <a:solidFill>
                          <a:srgbClr val="FFFFFF"/>
                        </a:solidFill>
                      </a:endParaRP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>
                          <a:solidFill>
                            <a:srgbClr val="FFFFFF"/>
                          </a:solidFill>
                        </a:rPr>
                        <a:t>QA RPS</a:t>
                      </a:r>
                      <a:endParaRPr sz="1800" b="1" dirty="0">
                        <a:solidFill>
                          <a:srgbClr val="FFFFFF"/>
                        </a:solidFill>
                      </a:endParaRP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>
                          <a:solidFill>
                            <a:srgbClr val="FFFFFF"/>
                          </a:solidFill>
                        </a:rPr>
                        <a:t>QA Rank</a:t>
                      </a:r>
                      <a:endParaRPr sz="1800" b="1" dirty="0">
                        <a:solidFill>
                          <a:srgbClr val="FFFFFF"/>
                        </a:solidFill>
                      </a:endParaRP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>
                          <a:solidFill>
                            <a:srgbClr val="FFFFFF"/>
                          </a:solidFill>
                        </a:rPr>
                        <a:t>QA </a:t>
                      </a:r>
                      <a:r>
                        <a:rPr lang="fi-FI" sz="1800" b="1" dirty="0" err="1">
                          <a:solidFill>
                            <a:srgbClr val="FFFFFF"/>
                          </a:solidFill>
                        </a:rPr>
                        <a:t>Acc</a:t>
                      </a:r>
                      <a:endParaRPr sz="1800" b="1" dirty="0">
                        <a:solidFill>
                          <a:srgbClr val="FFFFFF"/>
                        </a:solidFill>
                      </a:endParaRP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920"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 err="1"/>
                        <a:t>Ridge</a:t>
                      </a:r>
                      <a:endParaRPr sz="18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/>
                        <a:t>ML</a:t>
                      </a:r>
                      <a:endParaRPr sz="18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/>
                        <a:t>2.847</a:t>
                      </a:r>
                      <a:endParaRPr sz="18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/>
                        <a:t>7</a:t>
                      </a:r>
                      <a:endParaRPr sz="18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/>
                        <a:t>0.2250</a:t>
                      </a:r>
                      <a:endParaRPr sz="18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/>
                        <a:t>1</a:t>
                      </a:r>
                      <a:endParaRPr sz="18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/>
                        <a:t>50.0%</a:t>
                      </a:r>
                      <a:endParaRPr sz="1800" b="1" dirty="0"/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920"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Random </a:t>
                      </a:r>
                      <a:r>
                        <a:rPr lang="fi-FI" sz="1800" b="0" dirty="0" err="1"/>
                        <a:t>Forest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ML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2.768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5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0.2255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2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53.1%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920"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 err="1"/>
                        <a:t>XGBoost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ML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2.767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4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0.2263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3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51.6%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920"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 err="1"/>
                        <a:t>Poisson</a:t>
                      </a:r>
                      <a:r>
                        <a:rPr lang="fi-FI" sz="1800" b="0" dirty="0"/>
                        <a:t> GLM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Statistical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2.763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3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0.2284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4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53.1%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920"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LSTM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DL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2.821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6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0.2289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5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54.7%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920"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 err="1"/>
                        <a:t>Bayesian</a:t>
                      </a:r>
                      <a:r>
                        <a:rPr lang="fi-FI" sz="1800" b="0" dirty="0"/>
                        <a:t> </a:t>
                      </a:r>
                      <a:r>
                        <a:rPr lang="fi-FI" sz="1800" b="0" dirty="0" err="1"/>
                        <a:t>Poisson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 err="1"/>
                        <a:t>Bayesian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2.759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2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0.2289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6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51.6%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920"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 err="1"/>
                        <a:t>NegBin</a:t>
                      </a:r>
                      <a:r>
                        <a:rPr lang="fi-FI" sz="1800" b="1" dirty="0"/>
                        <a:t> GLM</a:t>
                      </a:r>
                      <a:endParaRPr sz="18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/>
                        <a:t>Statistical</a:t>
                      </a:r>
                      <a:endParaRPr sz="18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/>
                        <a:t>2.758</a:t>
                      </a:r>
                      <a:endParaRPr sz="18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/>
                        <a:t>1</a:t>
                      </a:r>
                      <a:endParaRPr sz="18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/>
                        <a:t>0.2294</a:t>
                      </a:r>
                      <a:endParaRPr sz="18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/>
                        <a:t>7</a:t>
                      </a:r>
                      <a:endParaRPr sz="18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/>
                        <a:t>53.1%</a:t>
                      </a:r>
                      <a:endParaRPr sz="1800" b="1" dirty="0"/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920"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SARIMAX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Time-</a:t>
                      </a:r>
                      <a:r>
                        <a:rPr lang="fi-FI" sz="1800" b="0" dirty="0" err="1"/>
                        <a:t>Series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3.016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8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0.2336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8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50.0%</a:t>
                      </a:r>
                      <a:endParaRPr sz="18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920"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1D CNN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DL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3.039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9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0.2479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9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0" dirty="0"/>
                        <a:t>42.2%</a:t>
                      </a:r>
                      <a:endParaRPr sz="1800" b="0" dirty="0"/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4496"/>
    </mc:Choice>
    <mc:Fallback>
      <p:transition spd="slow" advTm="13449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0DF51-10B4-B517-6767-63FE67A52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593C-8FDC-8037-D4AF-2B7867B7C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2: Elo Differential Dominates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A0B3F-3492-7C7D-490C-0112397CC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399" y="1707296"/>
            <a:ext cx="11209172" cy="4805015"/>
          </a:xfrm>
        </p:spPr>
        <p:txBody>
          <a:bodyPr/>
          <a:lstStyle/>
          <a:p>
            <a:r>
              <a:rPr lang="en-FI" sz="1800" b="1" dirty="0"/>
              <a:t>Elo difference </a:t>
            </a:r>
          </a:p>
          <a:p>
            <a:pPr lvl="1"/>
            <a:r>
              <a:rPr lang="en-FI" sz="1800" dirty="0"/>
              <a:t>ranks #1 in all 9 models</a:t>
            </a:r>
          </a:p>
          <a:p>
            <a:pPr lvl="1"/>
            <a:r>
              <a:rPr lang="en-FI" sz="1800" dirty="0"/>
              <a:t>15–110× larger than the next feature</a:t>
            </a:r>
          </a:p>
          <a:p>
            <a:endParaRPr lang="en-FI" sz="1800" dirty="0"/>
          </a:p>
          <a:p>
            <a:endParaRPr lang="en-FI" sz="1800" dirty="0"/>
          </a:p>
          <a:p>
            <a:pPr marL="0" indent="0">
              <a:buNone/>
            </a:pPr>
            <a:r>
              <a:rPr lang="en-FI" sz="1800" dirty="0"/>
              <a:t>Other observations:</a:t>
            </a:r>
          </a:p>
          <a:p>
            <a:r>
              <a:rPr lang="en-FI" sz="1800" b="1" dirty="0"/>
              <a:t>Rolling goals against (home team) </a:t>
            </a:r>
            <a:r>
              <a:rPr lang="en-FI" sz="1800" dirty="0"/>
              <a:t>appears in the top 3 of 7/9 models, the most robust secondary feature</a:t>
            </a:r>
          </a:p>
          <a:p>
            <a:r>
              <a:rPr lang="en-FI" sz="1800" dirty="0"/>
              <a:t>Models exploit different features for the rest of the signal, for example:</a:t>
            </a:r>
          </a:p>
          <a:p>
            <a:pPr lvl="1"/>
            <a:r>
              <a:rPr lang="en-FI" sz="1800" b="1" dirty="0"/>
              <a:t>Ridge: </a:t>
            </a:r>
            <a:r>
              <a:rPr lang="en-FI" sz="1800" dirty="0"/>
              <a:t>rolling goals features</a:t>
            </a:r>
          </a:p>
          <a:p>
            <a:pPr lvl="1"/>
            <a:r>
              <a:rPr lang="en-FI" sz="1800" b="1" dirty="0"/>
              <a:t>Deep learning: </a:t>
            </a:r>
            <a:r>
              <a:rPr lang="en-FI" sz="1800" dirty="0"/>
              <a:t>venue neutrality</a:t>
            </a:r>
          </a:p>
          <a:p>
            <a:pPr lvl="1"/>
            <a:r>
              <a:rPr lang="en-FI" sz="1800" b="1" dirty="0"/>
              <a:t>Bayesian Poisson: </a:t>
            </a:r>
            <a:r>
              <a:rPr lang="en-FI" sz="1800" dirty="0"/>
              <a:t>days since last match</a:t>
            </a:r>
          </a:p>
        </p:txBody>
      </p:sp>
    </p:spTree>
    <p:extLst>
      <p:ext uri="{BB962C8B-B14F-4D97-AF65-F5344CB8AC3E}">
        <p14:creationId xmlns:p14="http://schemas.microsoft.com/office/powerpoint/2010/main" val="1679998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758"/>
    </mc:Choice>
    <mc:Fallback>
      <p:transition spd="slow" advTm="4475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Live Demo</a:t>
            </a:r>
            <a:r>
              <a:rPr lang="fi-FI" dirty="0"/>
              <a:t>: </a:t>
            </a:r>
            <a:r>
              <a:rPr lang="fi-FI" dirty="0" err="1"/>
              <a:t>Streamlit</a:t>
            </a:r>
            <a:r>
              <a:rPr lang="fi-FI" dirty="0"/>
              <a:t> </a:t>
            </a:r>
            <a:r>
              <a:rPr lang="fi-FI" dirty="0" err="1"/>
              <a:t>App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17CF0-60A6-297E-2D35-492B8BDE6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399" y="1707296"/>
            <a:ext cx="11209172" cy="4805015"/>
          </a:xfrm>
        </p:spPr>
        <p:txBody>
          <a:bodyPr/>
          <a:lstStyle/>
          <a:p>
            <a:r>
              <a:rPr lang="en-FI" sz="1800" dirty="0"/>
              <a:t>Streamlit app connects to DagsHub MLflow via tracking URI + token</a:t>
            </a:r>
          </a:p>
          <a:p>
            <a:r>
              <a:rPr lang="en-FI" sz="1800" dirty="0"/>
              <a:t>Queries for the most recent run tagged stage = "inference"</a:t>
            </a:r>
          </a:p>
          <a:p>
            <a:r>
              <a:rPr lang="en-FI" sz="1800" dirty="0"/>
              <a:t>Downloads that run's CSV artifacts (tournament probabilities, group positions, predictions, k.o. pairings)</a:t>
            </a:r>
          </a:p>
          <a:p>
            <a:r>
              <a:rPr lang="en-FI" sz="1800" dirty="0"/>
              <a:t>Renders four Plotly views from those DataFrames</a:t>
            </a:r>
          </a:p>
          <a:p>
            <a:endParaRPr lang="en-FI" sz="1800" dirty="0"/>
          </a:p>
          <a:p>
            <a:endParaRPr lang="en-FI" sz="1800" dirty="0"/>
          </a:p>
          <a:p>
            <a:pPr marL="0" indent="0">
              <a:buNone/>
            </a:pPr>
            <a:r>
              <a:rPr lang="en-GB" sz="1800" dirty="0"/>
              <a:t>Accessible via </a:t>
            </a:r>
            <a:r>
              <a:rPr lang="en-GB" sz="1800" dirty="0" err="1"/>
              <a:t>Streamlit</a:t>
            </a:r>
            <a:r>
              <a:rPr lang="en-GB" sz="1800" dirty="0"/>
              <a:t> Cloud: https://wc2026-predictions.streamlit.app/</a:t>
            </a:r>
            <a:endParaRPr lang="en-FI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53"/>
    </mc:Choice>
    <mc:Fallback>
      <p:transition spd="slow" advTm="1165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B6CBD-4F97-E265-83A1-C606A7DA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BAED-46AC-C351-D266-E982D169A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CF6C6-276B-1C40-D77E-80F03B520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399" y="1707297"/>
            <a:ext cx="10921629" cy="4351338"/>
          </a:xfrm>
        </p:spPr>
        <p:txBody>
          <a:bodyPr/>
          <a:lstStyle/>
          <a:p>
            <a:pPr marL="0" indent="0">
              <a:buNone/>
            </a:pPr>
            <a:r>
              <a:rPr lang="en-GB" sz="1800" b="1" dirty="0"/>
              <a:t>Pipeline:</a:t>
            </a:r>
            <a:r>
              <a:rPr lang="en-GB" sz="1800" dirty="0"/>
              <a:t> </a:t>
            </a:r>
          </a:p>
          <a:p>
            <a:r>
              <a:rPr lang="en-GB" sz="1800" dirty="0"/>
              <a:t>Three-environment lifecycle (Experimental → QA → Production) implements Google Level 1</a:t>
            </a:r>
          </a:p>
          <a:p>
            <a:r>
              <a:rPr lang="en-GB" sz="1800" dirty="0" err="1"/>
              <a:t>Dagshub</a:t>
            </a:r>
            <a:r>
              <a:rPr lang="en-GB" sz="1800" dirty="0"/>
              <a:t> / DVC / </a:t>
            </a:r>
            <a:r>
              <a:rPr lang="en-GB" sz="1800" dirty="0" err="1"/>
              <a:t>MLflow</a:t>
            </a:r>
            <a:r>
              <a:rPr lang="en-GB" sz="1800" dirty="0"/>
              <a:t> covers DevOps / </a:t>
            </a:r>
            <a:r>
              <a:rPr lang="en-GB" sz="1800" dirty="0" err="1"/>
              <a:t>DataOps</a:t>
            </a:r>
            <a:r>
              <a:rPr lang="en-GB" sz="1800" dirty="0"/>
              <a:t> / </a:t>
            </a:r>
            <a:r>
              <a:rPr lang="en-GB" sz="1800" dirty="0" err="1"/>
              <a:t>ModelOps</a:t>
            </a:r>
            <a:r>
              <a:rPr lang="en-GB" sz="1800" dirty="0"/>
              <a:t> domains.</a:t>
            </a:r>
          </a:p>
          <a:p>
            <a:endParaRPr lang="en-GB" sz="1800" dirty="0"/>
          </a:p>
          <a:p>
            <a:pPr marL="0" indent="0">
              <a:buNone/>
            </a:pPr>
            <a:r>
              <a:rPr lang="en-GB" sz="1800" dirty="0"/>
              <a:t>Findings:</a:t>
            </a:r>
          </a:p>
          <a:p>
            <a:r>
              <a:rPr lang="en-GB" sz="1800" dirty="0"/>
              <a:t>Football World Cup matches are hard to predict</a:t>
            </a:r>
          </a:p>
          <a:p>
            <a:r>
              <a:rPr lang="en-GB" sz="1800" dirty="0"/>
              <a:t>Elo difference dominates all other signals and provides a feature ceiling</a:t>
            </a:r>
          </a:p>
          <a:p>
            <a:r>
              <a:rPr lang="en-GB" sz="1800" dirty="0"/>
              <a:t>Which model performs best depends on training/gating metrics</a:t>
            </a:r>
          </a:p>
          <a:p>
            <a:pPr marL="0" indent="0">
              <a:buNone/>
            </a:pPr>
            <a:endParaRPr lang="en-GB" sz="1800" b="1" dirty="0"/>
          </a:p>
          <a:p>
            <a:r>
              <a:rPr lang="en-GB" sz="1800" b="1" dirty="0"/>
              <a:t>Future work:</a:t>
            </a:r>
            <a:r>
              <a:rPr lang="en-GB" sz="1800" dirty="0"/>
              <a:t> WC 2026 live monitoring; 30-min inference cycle tracks per-team advancement probabilities after each completed match</a:t>
            </a:r>
          </a:p>
          <a:p>
            <a:pPr lvl="1"/>
            <a:r>
              <a:rPr lang="en-GB" sz="1800" dirty="0"/>
              <a:t>Trace per-team probability trajectories across matchdays</a:t>
            </a:r>
          </a:p>
          <a:p>
            <a:pPr lvl="1"/>
            <a:r>
              <a:rPr lang="en-GB" sz="1800" dirty="0"/>
              <a:t>Identify factors of probability swings (e.g. proximity to 3rd-place boundary, no. of groups completed)</a:t>
            </a:r>
          </a:p>
          <a:p>
            <a:pPr lvl="1"/>
            <a:r>
              <a:rPr lang="en-GB" sz="1800" dirty="0"/>
              <a:t>Quantify the gradual resolution of tournament uncertainty in the new format</a:t>
            </a:r>
          </a:p>
        </p:txBody>
      </p:sp>
    </p:spTree>
    <p:extLst>
      <p:ext uri="{BB962C8B-B14F-4D97-AF65-F5344CB8AC3E}">
        <p14:creationId xmlns:p14="http://schemas.microsoft.com/office/powerpoint/2010/main" val="1374530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18"/>
    </mc:Choice>
    <mc:Fallback>
      <p:transition spd="slow" advTm="461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3F6BC-7994-8EBE-3CF4-6A975698D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DEA81-9901-27E2-E2A8-ADF839D49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References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E0876-A6A1-4900-62DD-69AC8DDE4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399" y="1707297"/>
            <a:ext cx="10921629" cy="4351338"/>
          </a:xfrm>
        </p:spPr>
        <p:txBody>
          <a:bodyPr/>
          <a:lstStyle/>
          <a:p>
            <a:pPr marL="0" indent="0">
              <a:buNone/>
            </a:pPr>
            <a:r>
              <a:rPr lang="en-GB" sz="1800" dirty="0"/>
              <a:t>[1] Maher, M. J. (1982). Modelling Association Football Scores. Statistica </a:t>
            </a:r>
            <a:r>
              <a:rPr lang="en-GB" sz="1800" dirty="0" err="1"/>
              <a:t>Neerlandica</a:t>
            </a:r>
            <a:r>
              <a:rPr lang="en-GB" sz="1800" dirty="0"/>
              <a:t>, 36(3), 109–118.</a:t>
            </a:r>
          </a:p>
          <a:p>
            <a:pPr marL="0" indent="0">
              <a:buNone/>
            </a:pPr>
            <a:r>
              <a:rPr lang="en-GB" sz="1800" dirty="0"/>
              <a:t>[2] </a:t>
            </a:r>
            <a:r>
              <a:rPr lang="en-GB" sz="1800" dirty="0" err="1"/>
              <a:t>eloratings.net</a:t>
            </a:r>
            <a:r>
              <a:rPr lang="en-GB" sz="1800" dirty="0"/>
              <a:t> (2026). World Football Elo Ratings. https://</a:t>
            </a:r>
            <a:r>
              <a:rPr lang="en-GB" sz="1800" dirty="0" err="1"/>
              <a:t>www.eloratings.net</a:t>
            </a:r>
            <a:r>
              <a:rPr lang="en-GB" sz="1800" dirty="0"/>
              <a:t>/about</a:t>
            </a:r>
          </a:p>
          <a:p>
            <a:pPr marL="0" indent="0">
              <a:buNone/>
            </a:pPr>
            <a:r>
              <a:rPr lang="en-GB" sz="1800" dirty="0"/>
              <a:t>[3] Databricks (2023). The Big Book of </a:t>
            </a:r>
            <a:r>
              <a:rPr lang="en-GB" sz="1800" dirty="0" err="1"/>
              <a:t>MLOps</a:t>
            </a:r>
            <a:r>
              <a:rPr lang="en-GB" sz="1800" dirty="0"/>
              <a:t>, 2nd Edition.</a:t>
            </a:r>
          </a:p>
          <a:p>
            <a:pPr marL="0" indent="0">
              <a:buNone/>
            </a:pPr>
            <a:r>
              <a:rPr lang="en-GB" sz="1800" dirty="0"/>
              <a:t>[4] Google Cloud (2023). </a:t>
            </a:r>
            <a:r>
              <a:rPr lang="en-GB" sz="1800" dirty="0" err="1"/>
              <a:t>MLOps</a:t>
            </a:r>
            <a:r>
              <a:rPr lang="en-GB" sz="1800" dirty="0"/>
              <a:t>: Continuous Delivery and Automation Pipelines in Machine Learning.</a:t>
            </a:r>
          </a:p>
          <a:p>
            <a:pPr marL="0" indent="0">
              <a:buNone/>
            </a:pPr>
            <a:r>
              <a:rPr lang="en-GB" sz="1800" dirty="0"/>
              <a:t>[5] </a:t>
            </a:r>
            <a:r>
              <a:rPr lang="en-GB" sz="1800" dirty="0" err="1"/>
              <a:t>Moreschini</a:t>
            </a:r>
            <a:r>
              <a:rPr lang="en-GB" sz="1800" dirty="0"/>
              <a:t>, S., </a:t>
            </a:r>
            <a:r>
              <a:rPr lang="en-GB" sz="1800" dirty="0" err="1"/>
              <a:t>Hästbacka</a:t>
            </a:r>
            <a:r>
              <a:rPr lang="en-GB" sz="1800" dirty="0"/>
              <a:t>, D. &amp; Taibi, D. (2023). </a:t>
            </a:r>
            <a:r>
              <a:rPr lang="en-GB" sz="1800" dirty="0" err="1"/>
              <a:t>MLOps</a:t>
            </a:r>
            <a:r>
              <a:rPr lang="en-GB" sz="1800" dirty="0"/>
              <a:t> Pipeline Development: The OSSARA Use Case. ACM RACS '23.</a:t>
            </a:r>
          </a:p>
          <a:p>
            <a:pPr marL="0" indent="0">
              <a:buNone/>
            </a:pPr>
            <a:r>
              <a:rPr lang="en-GB" sz="1800" dirty="0"/>
              <a:t>[6] Karlis, D. &amp; </a:t>
            </a:r>
            <a:r>
              <a:rPr lang="en-GB" sz="1800" dirty="0" err="1"/>
              <a:t>Ntzoufras</a:t>
            </a:r>
            <a:r>
              <a:rPr lang="en-GB" sz="1800" dirty="0"/>
              <a:t>, I. (2003). Analysis of Sports Data by Using Bivariate Poisson Models. JRSS-D, 52(3), 381–393.</a:t>
            </a:r>
          </a:p>
        </p:txBody>
      </p:sp>
    </p:spTree>
    <p:extLst>
      <p:ext uri="{BB962C8B-B14F-4D97-AF65-F5344CB8AC3E}">
        <p14:creationId xmlns:p14="http://schemas.microsoft.com/office/powerpoint/2010/main" val="1867357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84"/>
    </mc:Choice>
    <mc:Fallback>
      <p:transition spd="slow" advTm="838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62"/>
    </mc:Choice>
    <mc:Fallback>
      <p:transition spd="slow" advTm="236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30D99-5CFE-40DE-7ECA-4E36E4B10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B9752-2899-2148-F6CE-284F1C48F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MLFlow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46D8F-1166-A30F-13DF-2DB52CD30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sz="1800" b="1" dirty="0"/>
              <a:t>Experiment:</a:t>
            </a:r>
            <a:r>
              <a:rPr lang="en-FI" sz="1800" dirty="0"/>
              <a:t> wc_prediction (single experiment for everything)</a:t>
            </a:r>
          </a:p>
          <a:p>
            <a:endParaRPr lang="en-FI" sz="1800" dirty="0"/>
          </a:p>
          <a:p>
            <a:r>
              <a:rPr lang="en-FI" sz="1800" b="1" dirty="0"/>
              <a:t>Registered models:</a:t>
            </a:r>
            <a:r>
              <a:rPr lang="en-FI" sz="1800" dirty="0"/>
              <a:t> wc_production (champion), wc_staging (QA candidates), wc_shadow (8 non-champion refits)</a:t>
            </a:r>
          </a:p>
          <a:p>
            <a:r>
              <a:rPr lang="en-FI" sz="1800" b="1" dirty="0"/>
              <a:t>Aliases:</a:t>
            </a:r>
            <a:r>
              <a:rPr lang="en-FI" sz="1800" dirty="0"/>
              <a:t> champion on wc_production, challenger on wc_staging</a:t>
            </a:r>
          </a:p>
          <a:p>
            <a:pPr marL="0" indent="0">
              <a:buNone/>
            </a:pPr>
            <a:endParaRPr lang="en-FI" sz="1800" dirty="0"/>
          </a:p>
          <a:p>
            <a:r>
              <a:rPr lang="en-FI" sz="1800" b="1" dirty="0"/>
              <a:t>Run tags:</a:t>
            </a:r>
            <a:r>
              <a:rPr lang="en-FI" sz="1800" dirty="0"/>
              <a:t> every run gets stage (one of: experimental, qa, production-refit, champion-refit, shadow-refit, inference, monitoring) and model_name</a:t>
            </a:r>
          </a:p>
          <a:p>
            <a:r>
              <a:rPr lang="en-FI" sz="1800" b="1" dirty="0"/>
              <a:t>Params logged:</a:t>
            </a:r>
            <a:r>
              <a:rPr lang="en-FI" sz="1800" dirty="0"/>
              <a:t> all hyperparameters + gold_row_count + evaluation_run_id (on deploy runs)</a:t>
            </a:r>
          </a:p>
          <a:p>
            <a:r>
              <a:rPr lang="en-FI" sz="1800" b="1" dirty="0"/>
              <a:t>Metrics logged:</a:t>
            </a:r>
            <a:r>
              <a:rPr lang="en-FI" sz="1800" dirty="0"/>
              <a:t> cv_nll, holdout_rps, holdout_nll, holdout_rmse_home, holdout_rmse_away, wall-clock time, and per-step rps/nll/rmse_h/rmse_a/cum_rps in monitoring runs</a:t>
            </a:r>
          </a:p>
          <a:p>
            <a:r>
              <a:rPr lang="en-FI" sz="1800" b="1" dirty="0"/>
              <a:t>Artifacts:</a:t>
            </a:r>
            <a:r>
              <a:rPr lang="en-FI" sz="1800" dirty="0"/>
              <a:t> importance CSVs (experimental), model pyfunc artifacts (QA/deploy/shadow), predictions_all_models.csv (inference), wc2026_monitoring.csv (monitoring)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809086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37BE-06BA-7DED-EE7C-6145E1E17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6C2E6-2A9F-B4E2-0921-988B649F4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Threats</a:t>
            </a:r>
            <a:r>
              <a:rPr lang="fi-FI" dirty="0"/>
              <a:t> to </a:t>
            </a:r>
            <a:r>
              <a:rPr lang="fi-FI" dirty="0" err="1"/>
              <a:t>Validity</a:t>
            </a:r>
            <a:r>
              <a:rPr lang="fi-FI" dirty="0"/>
              <a:t> and </a:t>
            </a:r>
            <a:r>
              <a:rPr lang="fi-FI" dirty="0" err="1"/>
              <a:t>Future</a:t>
            </a:r>
            <a:r>
              <a:rPr lang="fi-FI" dirty="0"/>
              <a:t> </a:t>
            </a:r>
            <a:r>
              <a:rPr lang="fi-FI" dirty="0" err="1"/>
              <a:t>Work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8AE5D-D7E2-CF02-D1FB-15B1B2DE6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399" y="1707296"/>
            <a:ext cx="11209172" cy="4805015"/>
          </a:xfrm>
        </p:spPr>
        <p:txBody>
          <a:bodyPr/>
          <a:lstStyle/>
          <a:p>
            <a:r>
              <a:rPr lang="en-FI" sz="1800" b="1" dirty="0"/>
              <a:t>Elo source reliability:</a:t>
            </a:r>
            <a:r>
              <a:rPr lang="en-FI" sz="1800" dirty="0"/>
              <a:t> Elo ratings come from a third-party site with no SLA. On fetch failure, the pipeline reuses the last snapshot. Tolerable short-term, can introduce feature drift if undetected over longer periods.</a:t>
            </a:r>
            <a:endParaRPr lang="en-FI" sz="1800" b="1" dirty="0"/>
          </a:p>
          <a:p>
            <a:r>
              <a:rPr lang="en-FI" sz="1800" b="1" dirty="0"/>
              <a:t>Dual-source desynchronization:</a:t>
            </a:r>
            <a:r>
              <a:rPr lang="en-FI" sz="1800" dirty="0"/>
              <a:t> API-Football and eloratings.net use different naming conventions and update cadences can be slightly out of sync. Mapping might need to be adjusted in very rare cases.</a:t>
            </a:r>
          </a:p>
          <a:p>
            <a:pPr>
              <a:buFont typeface="Wingdings" pitchFamily="2" charset="2"/>
              <a:buChar char="Ø"/>
            </a:pPr>
            <a:r>
              <a:rPr lang="en-FI" sz="1800" b="1" dirty="0"/>
              <a:t>Future work: </a:t>
            </a:r>
            <a:r>
              <a:rPr lang="en-FI" sz="1800" dirty="0"/>
              <a:t>Build own Elo database from scratch using the public formula.</a:t>
            </a:r>
          </a:p>
          <a:p>
            <a:pPr marL="0" indent="0">
              <a:buNone/>
            </a:pPr>
            <a:endParaRPr lang="en-FI" sz="1800" dirty="0"/>
          </a:p>
          <a:p>
            <a:r>
              <a:rPr lang="en-FI" sz="1800" b="1" dirty="0"/>
              <a:t>Single-tournament holdout:</a:t>
            </a:r>
            <a:r>
              <a:rPr lang="en-FI" sz="1800" dirty="0"/>
              <a:t> QA rests on 64 WC 2022 matches, 4 years from the prediction target. Model spread (0.0046 RPS range among top 7 models) approaches statistical noise at this sample size.</a:t>
            </a:r>
          </a:p>
          <a:p>
            <a:pPr>
              <a:buFont typeface="Wingdings" pitchFamily="2" charset="2"/>
              <a:buChar char="Ø"/>
            </a:pPr>
            <a:r>
              <a:rPr lang="en-FI" sz="1800" b="1" dirty="0"/>
              <a:t>Future work: </a:t>
            </a:r>
            <a:r>
              <a:rPr lang="en-FI" sz="1800" dirty="0"/>
              <a:t>Increase the holdout to the last iteration of each continental tournament.</a:t>
            </a:r>
          </a:p>
          <a:p>
            <a:pPr marL="0" indent="0">
              <a:buNone/>
            </a:pPr>
            <a:endParaRPr lang="en-FI" sz="1800" dirty="0"/>
          </a:p>
          <a:p>
            <a:r>
              <a:rPr lang="en-FI" sz="1800" b="1" dirty="0"/>
              <a:t>Sparse statistics coverage:</a:t>
            </a:r>
            <a:r>
              <a:rPr lang="en-FI" sz="1800" dirty="0"/>
              <a:t> ~51% of matches have per-match statistics; lower for AFC/CAF/OFC. Only XGBoost uses shot and tactical features (handles NaN natively).</a:t>
            </a:r>
          </a:p>
          <a:p>
            <a:pPr>
              <a:buFont typeface="Wingdings" pitchFamily="2" charset="2"/>
              <a:buChar char="Ø"/>
            </a:pPr>
            <a:r>
              <a:rPr lang="en-FI" sz="1800" b="1" dirty="0"/>
              <a:t>Future work: </a:t>
            </a:r>
            <a:r>
              <a:rPr lang="en-FI" sz="1800" dirty="0"/>
              <a:t>Ignore tactical playstyle and match statistics; rely on rolling goals for offense/defense form</a:t>
            </a:r>
          </a:p>
          <a:p>
            <a:endParaRPr lang="en-FI" sz="1800" dirty="0"/>
          </a:p>
          <a:p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4156583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320A1-F11F-7BEE-87BF-2764E2C3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6932A-493E-0403-8ACD-AE2FB7F06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20C4E7-2F28-A64B-F6C4-09BAFA592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905390"/>
              </p:ext>
            </p:extLst>
          </p:nvPr>
        </p:nvGraphicFramePr>
        <p:xfrm>
          <a:off x="609600" y="1707297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89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4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Hypothesis</a:t>
                      </a: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/>
                        <a:t>Elo differential is the dominant feature across all model families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A7A1A"/>
                          </a:solidFill>
                        </a:rPr>
                        <a:t>✓ Confirmed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800" b="0" dirty="0"/>
                        <a:t>Statistical </a:t>
                      </a:r>
                      <a:r>
                        <a:rPr lang="fi-FI" sz="1800" b="0" dirty="0" err="1"/>
                        <a:t>models</a:t>
                      </a:r>
                      <a:r>
                        <a:rPr lang="fi-FI" sz="1800" b="0" dirty="0"/>
                        <a:t> </a:t>
                      </a:r>
                      <a:r>
                        <a:rPr lang="fi-FI" sz="1800" b="0" dirty="0" err="1"/>
                        <a:t>are</a:t>
                      </a:r>
                      <a:r>
                        <a:rPr lang="fi-FI" sz="1800" b="0" dirty="0"/>
                        <a:t> </a:t>
                      </a:r>
                      <a:r>
                        <a:rPr sz="1800" b="0" dirty="0"/>
                        <a:t>a competitive baseline despite </a:t>
                      </a:r>
                      <a:r>
                        <a:rPr lang="fi-FI" sz="1800" b="0" dirty="0" err="1"/>
                        <a:t>their</a:t>
                      </a:r>
                      <a:r>
                        <a:rPr sz="1800" b="0" dirty="0"/>
                        <a:t> simplicity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A7A1A"/>
                          </a:solidFill>
                        </a:rPr>
                        <a:t>✓ Confirmed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H</a:t>
                      </a:r>
                      <a:r>
                        <a:rPr lang="fi-FI" sz="1800" b="1" dirty="0"/>
                        <a:t>3</a:t>
                      </a:r>
                      <a:endParaRPr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/>
                        <a:t>Deep learning underperforms relative to complexity (data-sparsity penalty)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800" b="1" dirty="0">
                          <a:solidFill>
                            <a:srgbClr val="1A7A1A"/>
                          </a:solidFill>
                        </a:rPr>
                        <a:t>(</a:t>
                      </a:r>
                      <a:r>
                        <a:rPr sz="1800" b="1" dirty="0">
                          <a:solidFill>
                            <a:srgbClr val="1A7A1A"/>
                          </a:solidFill>
                        </a:rPr>
                        <a:t>✓</a:t>
                      </a:r>
                      <a:r>
                        <a:rPr lang="fi-FI" sz="1800" b="1" dirty="0">
                          <a:solidFill>
                            <a:srgbClr val="1A7A1A"/>
                          </a:solidFill>
                        </a:rPr>
                        <a:t>)</a:t>
                      </a:r>
                      <a:r>
                        <a:rPr sz="1800" b="1" dirty="0">
                          <a:solidFill>
                            <a:srgbClr val="1A7A1A"/>
                          </a:solidFill>
                        </a:rPr>
                        <a:t> </a:t>
                      </a:r>
                      <a:r>
                        <a:rPr lang="fi-FI" sz="1800" b="1" dirty="0" err="1">
                          <a:solidFill>
                            <a:srgbClr val="1A7A1A"/>
                          </a:solidFill>
                        </a:rPr>
                        <a:t>Partly</a:t>
                      </a:r>
                      <a:r>
                        <a:rPr lang="fi-FI" sz="1800" b="1" dirty="0">
                          <a:solidFill>
                            <a:srgbClr val="1A7A1A"/>
                          </a:solidFill>
                        </a:rPr>
                        <a:t> </a:t>
                      </a:r>
                      <a:r>
                        <a:rPr sz="1800" b="1" dirty="0">
                          <a:solidFill>
                            <a:srgbClr val="1A7A1A"/>
                          </a:solidFill>
                        </a:rPr>
                        <a:t>Confirmed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H</a:t>
                      </a:r>
                      <a:r>
                        <a:rPr lang="fi-FI" sz="1800" b="1" dirty="0"/>
                        <a:t>4</a:t>
                      </a:r>
                      <a:endParaRPr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/>
                        <a:t>Bayesian Poisson produces best-calibrated predictions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BF0000"/>
                          </a:solidFill>
                        </a:rPr>
                        <a:t>✗ Not </a:t>
                      </a:r>
                      <a:r>
                        <a:rPr lang="fi-FI" sz="1800" b="1" dirty="0">
                          <a:solidFill>
                            <a:srgbClr val="BF0000"/>
                          </a:solidFill>
                        </a:rPr>
                        <a:t>(</a:t>
                      </a:r>
                      <a:r>
                        <a:rPr lang="fi-FI" sz="1800" b="1" dirty="0" err="1">
                          <a:solidFill>
                            <a:srgbClr val="BF0000"/>
                          </a:solidFill>
                        </a:rPr>
                        <a:t>yet</a:t>
                      </a:r>
                      <a:r>
                        <a:rPr lang="fi-FI" sz="1800" b="1" dirty="0">
                          <a:solidFill>
                            <a:srgbClr val="BF0000"/>
                          </a:solidFill>
                        </a:rPr>
                        <a:t>?) </a:t>
                      </a:r>
                      <a:r>
                        <a:rPr sz="1800" b="1" dirty="0">
                          <a:solidFill>
                            <a:srgbClr val="BF0000"/>
                          </a:solidFill>
                        </a:rPr>
                        <a:t>confirmed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037105"/>
      </p:ext>
    </p:extLst>
  </p:cSld>
  <p:clrMapOvr>
    <a:masterClrMapping/>
  </p:clrMapOvr>
</p:sld>
</file>

<file path=ppt/theme/theme1.xml><?xml version="1.0" encoding="utf-8"?>
<a:theme xmlns:a="http://schemas.openxmlformats.org/drawingml/2006/main" name="TUNI Theme">
  <a:themeElements>
    <a:clrScheme name="TUNI-teema-pp">
      <a:dk1>
        <a:srgbClr val="000000"/>
      </a:dk1>
      <a:lt1>
        <a:srgbClr val="FFFFFF"/>
      </a:lt1>
      <a:dk2>
        <a:srgbClr val="4E008E"/>
      </a:dk2>
      <a:lt2>
        <a:srgbClr val="FFFFFF"/>
      </a:lt2>
      <a:accent1>
        <a:srgbClr val="4E008E"/>
      </a:accent1>
      <a:accent2>
        <a:srgbClr val="38B399"/>
      </a:accent2>
      <a:accent3>
        <a:srgbClr val="FFE349"/>
      </a:accent3>
      <a:accent4>
        <a:srgbClr val="CF286F"/>
      </a:accent4>
      <a:accent5>
        <a:srgbClr val="000000"/>
      </a:accent5>
      <a:accent6>
        <a:srgbClr val="79C0EB"/>
      </a:accent6>
      <a:hlink>
        <a:srgbClr val="0041BE"/>
      </a:hlink>
      <a:folHlink>
        <a:srgbClr val="CF28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U template EN.pptx" id="{B1C3DC4B-F950-4622-BA06-D51317C440AB}" vid="{6C22DEC0-38D3-4753-B7A5-3C914CF483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TAU template EN</Template>
  <TotalTime>7215</TotalTime>
  <Words>2019</Words>
  <Application>Microsoft Macintosh PowerPoint</Application>
  <PresentationFormat>Widescreen</PresentationFormat>
  <Paragraphs>281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Wingdings</vt:lpstr>
      <vt:lpstr>TUNI Theme</vt:lpstr>
      <vt:lpstr>MLOps for Football World Cup Prediction</vt:lpstr>
      <vt:lpstr>Motivation</vt:lpstr>
      <vt:lpstr>Data Pipeline &amp; Feature Engineering</vt:lpstr>
      <vt:lpstr>MLOps Pipeline: Google Automation Lvl 1</vt:lpstr>
      <vt:lpstr>Modeling: Nine Candidate Models</vt:lpstr>
      <vt:lpstr>Modeling: Experimental Setup</vt:lpstr>
      <vt:lpstr>Finding 1: Narrow Result Spread and     CV–Holdout Ranking Reversal</vt:lpstr>
      <vt:lpstr>Finding 2: Elo Differential Dominates</vt:lpstr>
      <vt:lpstr>Live Demo: Streamlit App</vt:lpstr>
      <vt:lpstr>Summary</vt:lpstr>
      <vt:lpstr>References</vt:lpstr>
      <vt:lpstr>PowerPoint Presentation</vt:lpstr>
      <vt:lpstr>MLFlow Tracking</vt:lpstr>
      <vt:lpstr>Threats to Validity and Future Work</vt:lpstr>
      <vt:lpstr>Hypotheses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Tom Farnschläder</cp:lastModifiedBy>
  <cp:revision>30</cp:revision>
  <dcterms:created xsi:type="dcterms:W3CDTF">2020-12-01T13:47:31Z</dcterms:created>
  <dcterms:modified xsi:type="dcterms:W3CDTF">2026-05-18T18:40:29Z</dcterms:modified>
</cp:coreProperties>
</file>