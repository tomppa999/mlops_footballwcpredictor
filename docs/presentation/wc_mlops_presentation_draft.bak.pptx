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9" r:id="rId4"/>
    <p:sldId id="258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CDBE"/>
    <a:srgbClr val="4E008E"/>
    <a:srgbClr val="EFEFEF"/>
    <a:srgbClr val="C3B9D7"/>
    <a:srgbClr val="FFDCA5"/>
    <a:srgbClr val="F07387"/>
    <a:srgbClr val="F5A5C8"/>
    <a:srgbClr val="82C8F0"/>
    <a:srgbClr val="270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8" autoAdjust="0"/>
    <p:restoredTop sz="65994" autoAdjust="0"/>
  </p:normalViewPr>
  <p:slideViewPr>
    <p:cSldViewPr snapToGrid="0" snapToObjects="1" showGuides="1">
      <p:cViewPr varScale="1">
        <p:scale>
          <a:sx n="71" d="100"/>
          <a:sy n="71" d="100"/>
        </p:scale>
        <p:origin x="1904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56" d="100"/>
          <a:sy n="156" d="100"/>
        </p:scale>
        <p:origin x="541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398E1-C99F-B940-AA2A-81EFFACD43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1D06C-D5DE-814D-931E-02A0CE659BAA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1C63F-BE00-6D49-B7F3-B253A7D51A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1539-0194-5C43-B2F5-2C601016B9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09C7D-6C28-B047-9D84-D52122B215C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7155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9BFB5-475C-5B44-BA4D-42DE8089864D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97949-CA96-A34A-920F-344DC55B347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7862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02834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14390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7456-6907-B4ED-5D82-F0EBFBFE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859A9-69DB-C3B1-541F-FEF91447A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9E129-46B7-19D3-3021-9A0B7220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E556F-6DF0-EFC8-6D3B-F902BF9C3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96228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Original idea: promote only the 4 best-performing models (</a:t>
            </a:r>
            <a:r>
              <a:rPr lang="en-GB" sz="1200" b="1" i="1" dirty="0">
                <a:solidFill>
                  <a:srgbClr val="444444"/>
                </a:solidFill>
              </a:rPr>
              <a:t>Cross-Validation Negative Log Likelihood</a:t>
            </a:r>
            <a:r>
              <a:rPr lang="en-GB" sz="1200" i="1" dirty="0">
                <a:solidFill>
                  <a:srgbClr val="444444"/>
                </a:solidFill>
              </a:rPr>
              <a:t>) to the QA phase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Finding: Holdout </a:t>
            </a:r>
            <a:r>
              <a:rPr lang="en-GB" sz="1200" b="1" i="1" dirty="0">
                <a:solidFill>
                  <a:srgbClr val="444444"/>
                </a:solidFill>
              </a:rPr>
              <a:t>Ranked Probability Score </a:t>
            </a:r>
            <a:r>
              <a:rPr lang="en-GB" sz="1200" i="1" dirty="0">
                <a:solidFill>
                  <a:srgbClr val="444444"/>
                </a:solidFill>
              </a:rPr>
              <a:t>turned the experimental ranking on its head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Design choice changed: Promote all 9 models instead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sz="1200" i="1" dirty="0">
              <a:solidFill>
                <a:srgbClr val="444444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Patterns: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Fine-Tuning most successful for statistical &gt; ML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RPS performance best for ML &gt; statistical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Narrow holdout RPS band: 0.010 across 8 of 9 models → shared feature ceiling limits gains from more complex architectures. 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i="1" dirty="0">
                <a:solidFill>
                  <a:srgbClr val="444444"/>
                </a:solidFill>
              </a:rPr>
              <a:t>Deep Learning and SARIMAX not competitive on either metric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i="1" dirty="0">
              <a:solidFill>
                <a:srgbClr val="444444"/>
              </a:solidFill>
            </a:endParaRPr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7058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sz="1200" i="1" dirty="0" err="1">
                <a:solidFill>
                  <a:srgbClr val="444444"/>
                </a:solidFill>
              </a:rPr>
              <a:t>elo_diff</a:t>
            </a:r>
            <a:r>
              <a:rPr lang="en-GB" sz="1200" i="1" dirty="0">
                <a:solidFill>
                  <a:srgbClr val="444444"/>
                </a:solidFill>
              </a:rPr>
              <a:t> ranks #1 across ALL nine model families (importance 1–2 orders of magnitude above any other feature)</a:t>
            </a:r>
          </a:p>
          <a:p>
            <a:pPr marL="171450" indent="-171450">
              <a:buFontTx/>
              <a:buChar char="-"/>
            </a:pPr>
            <a:endParaRPr lang="en-GB" sz="1200" i="1" dirty="0">
              <a:solidFill>
                <a:srgbClr val="444444"/>
              </a:solidFill>
            </a:endParaRPr>
          </a:p>
          <a:p>
            <a:pPr marL="171450" indent="-171450">
              <a:buFontTx/>
              <a:buChar char="-"/>
            </a:pPr>
            <a:endParaRPr lang="en-GB" sz="1200" i="1" dirty="0">
              <a:solidFill>
                <a:srgbClr val="444444"/>
              </a:solidFill>
            </a:endParaRPr>
          </a:p>
          <a:p>
            <a:pPr marL="171450" indent="-171450">
              <a:buFontTx/>
              <a:buChar char="-"/>
            </a:pPr>
            <a:r>
              <a:rPr lang="en-GB" sz="1200" i="1" dirty="0">
                <a:solidFill>
                  <a:srgbClr val="444444"/>
                </a:solidFill>
              </a:rPr>
              <a:t>  </a:t>
            </a:r>
          </a:p>
          <a:p>
            <a:r>
              <a:rPr lang="en-GB" sz="1200" i="1" dirty="0">
                <a:solidFill>
                  <a:srgbClr val="444444"/>
                </a:solidFill>
              </a:rPr>
              <a:t>Deep learning penalty confirmed (H4): LSTM degraded +0.0074 after adding 5 features to an already data-sparse corpus.</a:t>
            </a:r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7949-CA96-A34A-920F-344DC55B3479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49927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40D9D56B-380E-41B8-9315-ED5CBC9E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7638" y="2553066"/>
            <a:ext cx="6212793" cy="338182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Kuva 3" descr="Tampere University.">
            <a:extLst>
              <a:ext uri="{FF2B5EF4-FFF2-40B4-BE49-F238E27FC236}">
                <a16:creationId xmlns:a16="http://schemas.microsoft.com/office/drawing/2014/main" id="{F4B581D9-6573-401D-B01B-EC70ACF75D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000" y="1080000"/>
            <a:ext cx="372127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3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40D9D56B-380E-41B8-9315-ED5CBC9E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863" y="2758440"/>
            <a:ext cx="11090275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589" y="4435972"/>
            <a:ext cx="11083550" cy="144000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EEF2D1E-9D26-4178-9CD9-82D802C12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AC67BEA-6EFD-4E49-843A-63C8CA4D1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8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863" y="2757600"/>
            <a:ext cx="11090275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solidFill>
                  <a:srgbClr val="4E008E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589" y="4435200"/>
            <a:ext cx="11083550" cy="144000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rgbClr val="4E008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2D621D0-61E7-E946-BBC9-24D91EEA5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8BB0235-0F5A-40FA-B663-F054FD106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E0BDB65-6D51-44F4-970C-428F139C6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1463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1723"/>
            <a:ext cx="10515600" cy="6456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400" y="1707297"/>
            <a:ext cx="10515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3405FCAB-7A18-034B-9743-CFD67A11D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EC2DD84-1BF6-4E3C-BCC3-08913B1A4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6B2755C-0223-4E55-9084-FF6941279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357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2E511953-F32B-4B5F-9EC2-2431EB03F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1723"/>
            <a:ext cx="10515600" cy="6456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400" y="1707297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E01EC75-0511-4C59-AFDC-B169D952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4711C01-20AD-4C7D-A906-DDBC6C93E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49CC18-975B-4218-9BEB-3D804548A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92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1"/>
            <a:ext cx="10655486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04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399" y="1825625"/>
            <a:ext cx="5387465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5ECB8C9-6F71-8745-9B9D-ED3B992FA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BCE51E9-C67C-4EF8-826E-F1A4EE04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5DAC9A-9264-4E96-A741-2D8DA1F06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49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351703-006A-624D-9F66-D3B3015E7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1"/>
            <a:ext cx="10643348" cy="649288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0400" y="1706400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706400"/>
            <a:ext cx="5392738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8398AE9-4026-46A2-BBA1-AAB09718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9AE78F3E-1AD5-409A-90E2-A126A9F8418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EFCCDBD-D833-4FF5-A833-32B63E903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42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6517"/>
            <a:ext cx="10650635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1700214"/>
            <a:ext cx="5157787" cy="8048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400" y="2647950"/>
            <a:ext cx="5157787" cy="354171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1687" y="1700214"/>
            <a:ext cx="5183188" cy="8048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1687" y="2647950"/>
            <a:ext cx="5183188" cy="354171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20D11757-AD21-8C44-BA47-2C7CCF6BD2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67BC55-B784-4D84-8769-21885DB5752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1527A28-514A-4E4D-B9BB-80131B1DE7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8849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EB8D2C57-C1F3-4D95-825E-2E55BFB96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6517"/>
            <a:ext cx="10642163" cy="64928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1700214"/>
            <a:ext cx="5157787" cy="8048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400" y="2647950"/>
            <a:ext cx="5157787" cy="3541713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73216" y="1700214"/>
            <a:ext cx="5183188" cy="8048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73216" y="2647950"/>
            <a:ext cx="5183188" cy="3541714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CA17208-6DE2-4F5B-B757-D5C3A176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83CFA40-FCD9-4A03-A580-D0EEA649400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AACA649-1609-4824-AF1D-CF39DED724D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8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4401"/>
            <a:ext cx="10651813" cy="64293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B513FB-A89D-4CD9-816A-A2426574F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7FC877C-D72B-4FA2-A4D8-10EC144C4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A96801F-E137-4B25-94D7-4851FADECBA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3132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DF54673-9ACE-45BB-89AE-4DF9D1200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14401"/>
            <a:ext cx="10643351" cy="642938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0BA03E9-7771-435A-ACF2-791A6462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A061E97-8041-4B8C-84EB-4224E0AC8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E88A044-4865-4080-A1DB-4D812EAA9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84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1F2527F-684A-4121-9363-8807B0AFD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306364A-3632-4E1B-8113-A8981F3C5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FF5CBD4-0D40-46CB-83FF-1C58DD7870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32917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A4069F-7B77-435A-A9D6-CD64E2434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737735C-1BFC-5948-A4B6-6B9D9DF1DAD9}"/>
              </a:ext>
            </a:extLst>
          </p:cNvPr>
          <p:cNvSpPr txBox="1">
            <a:spLocks/>
          </p:cNvSpPr>
          <p:nvPr userDrawn="1"/>
        </p:nvSpPr>
        <p:spPr>
          <a:xfrm>
            <a:off x="430580" y="6506631"/>
            <a:ext cx="6779559" cy="251947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fi-FI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i-FI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86E1A08-E0B6-4CF0-9B54-F868C9DF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C7C9B07-1287-4DA9-8EE6-AAC6DE816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697E018-CB7F-48B9-B44F-8C4B55AF6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646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199A30-D9CF-F04F-AD6E-EFD6A331F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36422"/>
            <a:ext cx="11914022" cy="622157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A31E617-3DD2-45F9-87A9-28710F458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23AE687-7288-4989-808B-BBFE1801B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9304CA3-67E1-4FC8-9377-97D39A8697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2863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964" y="908050"/>
            <a:ext cx="7092900" cy="496093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172614"/>
            <a:ext cx="3932237" cy="3696374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9A114AA-0FC1-4BDA-A87A-450D91C7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8A440A0-2DFA-4694-8E9A-F37821D64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B3199E04-FCC9-48F1-9FFB-2F71AFADEA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20778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B501874-212D-43E0-A21F-C912819BD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Muokkaa ots. peruasdasdasdasdstyyl. napsautt.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1431" y="908050"/>
            <a:ext cx="7084433" cy="4960938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172614"/>
            <a:ext cx="3932237" cy="369637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B0FB749-BBFE-438A-B34D-304382F9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D16047A-E530-4F76-BE04-5DB0A3040E2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7B2D6AA-88A2-4EE8-91D4-604C9EE54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326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899770"/>
            <a:ext cx="10515600" cy="66010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0400" y="1707297"/>
            <a:ext cx="10515600" cy="43513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A817179-6464-4F21-9B03-3D32D962B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353961E-5198-4EC6-84CF-7D796EA3D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F202A3E-9DD7-4C20-B920-B130C51F616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832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0A482-DF25-4AC1-93FF-A21A43ED8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899770"/>
            <a:ext cx="10515600" cy="6601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0400" y="1707297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08E8C6C-B535-4624-AE36-E7AA2DD3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D573219-6138-48B9-B6B4-28078E664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93FE60-FDE5-4FFB-BA0D-01896B739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494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08049"/>
            <a:ext cx="2628900" cy="5268914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08049"/>
            <a:ext cx="7734300" cy="5268913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A231356-4E89-42FF-B9D2-5276EA40A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294DD31-33A4-4715-9A6D-15C4AF304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EC80EF1-75D1-469D-8A92-4BE196BAFD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16105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6C69A4-9805-44B9-86C2-D0BEF1B39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08049"/>
            <a:ext cx="2628900" cy="5268914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08049"/>
            <a:ext cx="7734300" cy="5268913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D6E3F5C-87B6-4EC2-BBE3-B9D1C41B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5EC882A-A2D2-46CB-99A6-60BC54D85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5571256-36CB-4721-8D5D-45CF8D5DF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766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22800" y="914275"/>
            <a:ext cx="7018337" cy="495471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223820"/>
            <a:ext cx="3932237" cy="3645167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03500BF-A2C1-4F36-A443-35E1074B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3234A5-5678-4107-B6E4-4D194E2EC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AEB90590-21DA-48A3-904A-917FC50EB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19989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F7A597D-CD79-4B30-894C-1B2608609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00" y="908050"/>
            <a:ext cx="3932237" cy="11493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14333" y="914275"/>
            <a:ext cx="7021530" cy="495471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400" y="2223820"/>
            <a:ext cx="3932237" cy="364516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E06352D-B086-43FE-8FC5-AC6B4EA8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FC39A97-01AE-4D0D-B345-8CBA5227461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C76E15C-8063-441E-A2E0-1EBFFF54D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59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3679" y="1143245"/>
            <a:ext cx="4853934" cy="3149671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E008E"/>
                </a:solidFill>
              </a:defRPr>
            </a:lvl1pPr>
          </a:lstStyle>
          <a:p>
            <a:r>
              <a:rPr lang="en-GB" noProof="0"/>
              <a:t>This is a place for a longer text that goes on for three or more lines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8C4556-08AF-304E-8426-06F9F8EFF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267" y="1312457"/>
            <a:ext cx="5040000" cy="48906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17F52D9-8B1E-4F7F-AA8C-39AD4EB47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5273A0-B2DF-4C71-84F5-8A0CABCD5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3A36DE0-5C27-4F2F-B628-D82AEFA8D89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89717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D4B79723-8A28-41DA-8158-47C40BEA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9144" y="1129720"/>
            <a:ext cx="4853934" cy="3149671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This is a place for a longer text that goes on for three or more lines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8C4556-08AF-304E-8426-06F9F8EFF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04" y="1320928"/>
            <a:ext cx="5040000" cy="48906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B3E6F3-32BA-42D1-BB7C-49EDFDFB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62A019B-6E71-4FF6-8233-F4C956257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D7264E8-D67F-450D-B5B3-7C3FE5CFB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475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and pictur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3A1E0F-9E5E-9745-BEF2-2CE041671C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37201" y="908050"/>
            <a:ext cx="6103938" cy="52817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0708" y="792399"/>
            <a:ext cx="4957631" cy="190926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This is a place for a longer text with big font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3E05CB-C7A1-A342-B41E-5EE8CD4216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8363" y="2960016"/>
            <a:ext cx="4849977" cy="32297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84F16D1-C984-4655-8258-D6EF6AF7D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0ACAF84-7C25-4838-BB2E-3953315E6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7F734B17-F190-4E9B-912E-CA33643B1B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06329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aption and picture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782EC1E3-2963-4D1C-A09D-168216C66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3E05CB-C7A1-A342-B41E-5EE8CD4216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6893" y="2960016"/>
            <a:ext cx="4857292" cy="32224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3A1E0F-9E5E-9745-BEF2-2CE041671C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28733" y="908050"/>
            <a:ext cx="6112405" cy="52732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65" y="775657"/>
            <a:ext cx="4955519" cy="190926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This is a place for a longer text with big font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35FED0F-203A-4399-B1A6-E36F6BDB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7E17269-133F-4041-8E1C-C34F81D99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09F9ABA-0045-4D3B-9E43-6CE8DD7F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868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text_1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83AB547-0C6F-394C-8BEF-5A6F3FBA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43" y="908050"/>
            <a:ext cx="10506697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79FD3A-6E17-1D47-8E91-0B127B4332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077" y="1931988"/>
            <a:ext cx="2502487" cy="15236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8C0298E-F14A-6845-92C8-38BD03C683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9077" y="3455625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14325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2pPr>
            <a:lvl3pPr marL="671513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027112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4pPr>
            <a:lvl5pPr marL="1336675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558BD131-E1E6-6B4A-8A43-7499BB4F44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3849" y="1931988"/>
            <a:ext cx="2502487" cy="15236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97DB071B-9088-9940-8EEF-A7349739FA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03849" y="3455625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91EB564-08EC-084A-85ED-67955978534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66181" y="1931988"/>
            <a:ext cx="2502487" cy="15236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D5E66258-07E1-E642-A305-89957CDCC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6181" y="3455625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DAC2486-1BBC-E148-8A6A-A96E0924C82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28513" y="1933860"/>
            <a:ext cx="2502487" cy="15236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1A3268F3-BC79-314A-9049-89ABFE4885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28513" y="3457497"/>
            <a:ext cx="2502487" cy="2633662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6BEA95B-149A-4378-99A8-4A3778EC0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CEF878AF-8D06-4EF3-883F-34F2EFF16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5FB341E1-B4C6-4A8F-95EC-40D3CF9664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60357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text_2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83AB547-0C6F-394C-8BEF-5A6F3FBA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43" y="908050"/>
            <a:ext cx="10506697" cy="649288"/>
          </a:xfrm>
          <a:prstGeom prst="rect">
            <a:avLst/>
          </a:prstGeom>
        </p:spPr>
        <p:txBody>
          <a:bodyPr anchor="t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79FD3A-6E17-1D47-8E91-0B127B4332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078" y="1931988"/>
            <a:ext cx="3231889" cy="1593882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8C0298E-F14A-6845-92C8-38BD03C683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9078" y="3455625"/>
            <a:ext cx="3231889" cy="2755084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5111911C-6CB3-AD44-A987-239427CE40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9788" y="1931988"/>
            <a:ext cx="3231889" cy="1593882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B81E064-8551-694A-8FD5-C523BEB10D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69788" y="3455625"/>
            <a:ext cx="3231889" cy="2755084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E37D0D04-EE41-5F42-BA3B-67ED3166C67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10498" y="1931988"/>
            <a:ext cx="3231889" cy="1593882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fi-FI" dirty="0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C7609D31-2B9E-9841-9A07-1A4FC70457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10498" y="3455625"/>
            <a:ext cx="3231889" cy="2755084"/>
          </a:xfrm>
          <a:solidFill>
            <a:srgbClr val="EFEFEF"/>
          </a:solidFill>
        </p:spPr>
        <p:txBody>
          <a:bodyPr lIns="144000" tIns="216000" rIns="144000" bIns="216000"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14325" indent="0">
              <a:lnSpc>
                <a:spcPct val="100000"/>
              </a:lnSpc>
              <a:buNone/>
              <a:defRPr sz="1600"/>
            </a:lvl2pPr>
            <a:lvl3pPr marL="671513" indent="0">
              <a:lnSpc>
                <a:spcPct val="100000"/>
              </a:lnSpc>
              <a:buNone/>
              <a:defRPr sz="1600"/>
            </a:lvl3pPr>
            <a:lvl4pPr marL="1027112" indent="0">
              <a:lnSpc>
                <a:spcPct val="100000"/>
              </a:lnSpc>
              <a:buNone/>
              <a:defRPr sz="1600"/>
            </a:lvl4pPr>
            <a:lvl5pPr marL="1336675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32E84F1-B479-4DA5-B79A-E1AAD0184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BF1F0F-97EF-4D74-A4D0-217EA478D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74C35F04-76D4-4B98-A67F-2CB880FD6A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24006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895A594-3BD2-D54E-93FD-6F7FCA50C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339" y="2835805"/>
            <a:ext cx="10660250" cy="182086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>
              <a:defRPr sz="5400">
                <a:solidFill>
                  <a:srgbClr val="4E008E"/>
                </a:solidFill>
              </a:defRPr>
            </a:lvl1pPr>
          </a:lstStyle>
          <a:p>
            <a:r>
              <a:rPr lang="en-GB" noProof="0"/>
              <a:t>“Insert </a:t>
            </a:r>
            <a:br>
              <a:rPr lang="en-GB" noProof="0"/>
            </a:br>
            <a:r>
              <a:rPr lang="en-GB" noProof="0"/>
              <a:t>text here.”</a:t>
            </a:r>
          </a:p>
        </p:txBody>
      </p:sp>
      <p:sp>
        <p:nvSpPr>
          <p:cNvPr id="13" name="Tekstin paikkamerkki 2"/>
          <p:cNvSpPr>
            <a:spLocks noGrp="1"/>
          </p:cNvSpPr>
          <p:nvPr>
            <p:ph type="body" sz="quarter" idx="11" hasCustomPrompt="1"/>
          </p:nvPr>
        </p:nvSpPr>
        <p:spPr>
          <a:xfrm>
            <a:off x="668338" y="4784723"/>
            <a:ext cx="10660062" cy="1440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>
                <a:solidFill>
                  <a:srgbClr val="4E008E"/>
                </a:solidFill>
              </a:defRPr>
            </a:lvl1pPr>
            <a:lvl2pPr marL="314325" indent="0" algn="r">
              <a:buFontTx/>
              <a:buNone/>
              <a:defRPr/>
            </a:lvl2pPr>
            <a:lvl3pPr marL="671513" indent="0" algn="r">
              <a:buFontTx/>
              <a:buNone/>
              <a:defRPr/>
            </a:lvl3pPr>
            <a:lvl4pPr marL="1027112" indent="0" algn="r">
              <a:buFontTx/>
              <a:buNone/>
              <a:defRPr/>
            </a:lvl4pPr>
            <a:lvl5pPr marL="1336675" indent="0" algn="r">
              <a:buFontTx/>
              <a:buNone/>
              <a:defRPr/>
            </a:lvl5pPr>
          </a:lstStyle>
          <a:p>
            <a:pPr lvl="0"/>
            <a:r>
              <a:rPr lang="en-GB" noProof="0"/>
              <a:t>– Firstname Lastname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D54C215-BF9C-463D-8116-5E5F873B8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22651F8-67AD-4CA7-B5C5-141B94156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D38B48EA-3C26-4DE6-8A6F-BD13DFD31C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00493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FF25AA6-74E4-4FDC-97D1-348B884E4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40094"/>
            <a:ext cx="11914022" cy="6221578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02266" y="2683405"/>
            <a:ext cx="10660250" cy="182086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“Insert </a:t>
            </a:r>
            <a:br>
              <a:rPr lang="en-GB" noProof="0"/>
            </a:br>
            <a:r>
              <a:rPr lang="en-GB" noProof="0"/>
              <a:t>text here.”</a:t>
            </a:r>
          </a:p>
        </p:txBody>
      </p:sp>
      <p:sp>
        <p:nvSpPr>
          <p:cNvPr id="12" name="Tekstin paikkamerkki 13"/>
          <p:cNvSpPr>
            <a:spLocks noGrp="1"/>
          </p:cNvSpPr>
          <p:nvPr>
            <p:ph type="body" sz="quarter" idx="12" hasCustomPrompt="1"/>
          </p:nvPr>
        </p:nvSpPr>
        <p:spPr>
          <a:xfrm>
            <a:off x="802266" y="4606387"/>
            <a:ext cx="10644349" cy="1440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>
                <a:solidFill>
                  <a:schemeClr val="bg1"/>
                </a:solidFill>
              </a:defRPr>
            </a:lvl1pPr>
            <a:lvl2pPr marL="314325" indent="0">
              <a:buFontTx/>
              <a:buNone/>
              <a:defRPr>
                <a:solidFill>
                  <a:schemeClr val="bg1"/>
                </a:solidFill>
              </a:defRPr>
            </a:lvl2pPr>
            <a:lvl3pPr marL="671513" indent="0">
              <a:buFontTx/>
              <a:buNone/>
              <a:defRPr>
                <a:solidFill>
                  <a:schemeClr val="bg1"/>
                </a:solidFill>
              </a:defRPr>
            </a:lvl3pPr>
            <a:lvl4pPr marL="1027112" indent="0">
              <a:buFontTx/>
              <a:buNone/>
              <a:defRPr>
                <a:solidFill>
                  <a:schemeClr val="bg1"/>
                </a:solidFill>
              </a:defRPr>
            </a:lvl4pPr>
            <a:lvl5pPr marL="1336675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algn="r"/>
            <a:r>
              <a:rPr lang="en-GB" noProof="0">
                <a:solidFill>
                  <a:schemeClr val="bg1"/>
                </a:solidFill>
              </a:rPr>
              <a:t>– Firstname Lastname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4DAC962-BCA0-4E26-A90A-EC7C6038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89700"/>
            <a:ext cx="6779559" cy="2519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B84C95F-B250-4250-A075-AEF10367F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26F114B-97C9-4F70-8E58-1AFA5B8E3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>
                <a:solidFill>
                  <a:schemeClr val="bg1"/>
                </a:solidFill>
              </a:rPr>
              <a:pPr/>
              <a:t>‹#›</a:t>
            </a:fld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312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B2510EA-1654-E84D-A789-CFF2920E0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978" y="636422"/>
            <a:ext cx="11914022" cy="622157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9B4DE-33B9-0041-8077-67823436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510" y="1569142"/>
            <a:ext cx="9690754" cy="4060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sx="74000" sy="74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i-FI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3A1E0F-9E5E-9745-BEF2-2CE041671C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63233" y="1883432"/>
            <a:ext cx="2401642" cy="3424232"/>
          </a:xfrm>
          <a:solidFill>
            <a:srgbClr val="7DCDBE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D4BC1B-C1D1-4F41-B9B7-335D450148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2126" y="1569143"/>
            <a:ext cx="6827907" cy="816758"/>
          </a:xfrm>
        </p:spPr>
        <p:txBody>
          <a:bodyPr anchor="b" anchorCtr="0">
            <a:noAutofit/>
          </a:bodyPr>
          <a:lstStyle>
            <a:lvl1pPr marL="0" indent="0">
              <a:buNone/>
              <a:defRPr sz="3200" b="1">
                <a:solidFill>
                  <a:srgbClr val="4E008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Firstname Lastname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2938A8D-D773-5142-92B9-89D818060D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02130" y="2385899"/>
            <a:ext cx="6827904" cy="36513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rgbClr val="7DCDBE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126850-0A2D-214C-8173-B9D9A2BCD6CD}"/>
              </a:ext>
            </a:extLst>
          </p:cNvPr>
          <p:cNvCxnSpPr/>
          <p:nvPr userDrawn="1"/>
        </p:nvCxnSpPr>
        <p:spPr>
          <a:xfrm>
            <a:off x="4868747" y="2984293"/>
            <a:ext cx="0" cy="2319489"/>
          </a:xfrm>
          <a:prstGeom prst="line">
            <a:avLst/>
          </a:prstGeom>
          <a:ln w="3175">
            <a:solidFill>
              <a:srgbClr val="4E00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9D0D4C-BB57-D348-99EE-61BD94E3A5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02127" y="2915308"/>
            <a:ext cx="3183740" cy="23923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  <a:lvl2pPr marL="314325" indent="0">
              <a:lnSpc>
                <a:spcPct val="100000"/>
              </a:lnSpc>
              <a:buNone/>
              <a:defRPr sz="2000"/>
            </a:lvl2pPr>
            <a:lvl3pPr marL="671513" indent="0">
              <a:lnSpc>
                <a:spcPct val="100000"/>
              </a:lnSpc>
              <a:buNone/>
              <a:defRPr sz="2000"/>
            </a:lvl3pPr>
            <a:lvl4pPr marL="1027112" indent="0">
              <a:lnSpc>
                <a:spcPct val="100000"/>
              </a:lnSpc>
              <a:buNone/>
              <a:defRPr sz="2000"/>
            </a:lvl4pPr>
            <a:lvl5pPr marL="1336675" indent="0">
              <a:lnSpc>
                <a:spcPct val="100000"/>
              </a:lnSpc>
              <a:buNone/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282D1424-0632-DE42-8831-FEFEDCC907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46294" y="2914199"/>
            <a:ext cx="3183740" cy="23935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  <a:lvl2pPr marL="314325" indent="0">
              <a:lnSpc>
                <a:spcPct val="100000"/>
              </a:lnSpc>
              <a:buNone/>
              <a:defRPr sz="2000"/>
            </a:lvl2pPr>
            <a:lvl3pPr marL="671513" indent="0">
              <a:lnSpc>
                <a:spcPct val="100000"/>
              </a:lnSpc>
              <a:buNone/>
              <a:defRPr sz="2000"/>
            </a:lvl3pPr>
            <a:lvl4pPr marL="1027112" indent="0">
              <a:lnSpc>
                <a:spcPct val="100000"/>
              </a:lnSpc>
              <a:buNone/>
              <a:defRPr sz="2000"/>
            </a:lvl4pPr>
            <a:lvl5pPr marL="1336675" indent="0">
              <a:lnSpc>
                <a:spcPct val="100000"/>
              </a:lnSpc>
              <a:buFont typeface="Arial" panose="020B0604020202020204" pitchFamily="34" charset="0"/>
              <a:buNone/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66ED82B-11B6-41FE-87C7-2B5722E38F8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69F5273-5630-41AF-BBE6-A465425B1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9A05E985-5042-48F0-9519-B76D1E9404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689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96305A-4729-C241-80A5-A3957FB9D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923" y="628650"/>
            <a:ext cx="11892077" cy="62293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2AACA4F-50A2-4213-AE5B-26622BDBF93E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179ABD-0CDD-4487-ADD9-0679BFCE2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BCA9A8C-35F5-4107-B91B-A52435FB7E9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33392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EN -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40D9D56B-380E-41B8-9315-ED5CBC9E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rgbClr val="4E0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074A7632-0B5B-4DF2-9411-9E0ADFA061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16714" y="1879326"/>
            <a:ext cx="2225901" cy="3114035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A93BB476-CD94-4029-8F95-5AE34712627B}"/>
              </a:ext>
            </a:extLst>
          </p:cNvPr>
          <p:cNvSpPr txBox="1"/>
          <p:nvPr userDrawn="1"/>
        </p:nvSpPr>
        <p:spPr>
          <a:xfrm>
            <a:off x="5794795" y="2509714"/>
            <a:ext cx="3758780" cy="216982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GB" sz="5600" b="1" noProof="0">
                <a:solidFill>
                  <a:schemeClr val="bg1"/>
                </a:solidFill>
              </a:rPr>
              <a:t>Human Potential Unlimited.</a:t>
            </a:r>
          </a:p>
        </p:txBody>
      </p:sp>
    </p:spTree>
    <p:extLst>
      <p:ext uri="{BB962C8B-B14F-4D97-AF65-F5344CB8AC3E}">
        <p14:creationId xmlns:p14="http://schemas.microsoft.com/office/powerpoint/2010/main" val="1568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75">
          <p15:clr>
            <a:srgbClr val="FBAE40"/>
          </p15:clr>
        </p15:guide>
        <p15:guide id="3" pos="7605">
          <p15:clr>
            <a:srgbClr val="FBAE40"/>
          </p15:clr>
        </p15:guide>
        <p15:guide id="4" orient="horz" pos="42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17072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/>
              <a:t>Muokkaa tekstin perustyylejä napsauttamalla</a:t>
            </a:r>
          </a:p>
          <a:p>
            <a:pPr lvl="1"/>
            <a:r>
              <a:rPr lang="en-GB" noProof="0"/>
              <a:t>toinen taso</a:t>
            </a:r>
          </a:p>
          <a:p>
            <a:pPr lvl="2"/>
            <a:r>
              <a:rPr lang="en-GB" noProof="0"/>
              <a:t>kolmas taso</a:t>
            </a:r>
          </a:p>
          <a:p>
            <a:pPr lvl="3"/>
            <a:r>
              <a:rPr lang="en-GB" noProof="0"/>
              <a:t>neljäs taso</a:t>
            </a:r>
          </a:p>
          <a:p>
            <a:pPr lvl="4"/>
            <a:r>
              <a:rPr lang="en-GB" noProof="0"/>
              <a:t>viides taso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55589" y="6489700"/>
            <a:ext cx="766827" cy="254172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0DC808-9B4F-47F6-816E-B4DD926C39FF}" type="datetime1">
              <a:rPr lang="en-GB" noProof="0" smtClean="0"/>
              <a:pPr/>
              <a:t>12/05/2026</a:t>
            </a:fld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7005" y="6489700"/>
            <a:ext cx="375932" cy="254015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noProof="0"/>
              <a:t>|  </a:t>
            </a:r>
            <a:fld id="{CDC8994D-33BE-6F4B-918B-78B2D731EB1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5E40AAE-D302-7647-9D31-6971CE88E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400" y="6489700"/>
            <a:ext cx="6778800" cy="2540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03743BE5-29C0-A94B-962C-58F60464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911553"/>
            <a:ext cx="10521733" cy="64578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noProof="0"/>
              <a:t>Muokkaa perustyyl. napsautt.</a:t>
            </a:r>
          </a:p>
        </p:txBody>
      </p:sp>
      <p:pic>
        <p:nvPicPr>
          <p:cNvPr id="5" name="Kuva 4" descr="Tampere University.">
            <a:extLst>
              <a:ext uri="{FF2B5EF4-FFF2-40B4-BE49-F238E27FC236}">
                <a16:creationId xmlns:a16="http://schemas.microsoft.com/office/drawing/2014/main" id="{37F13CCF-E858-4691-8DA5-CEDCEA21226F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26000" y="115200"/>
            <a:ext cx="1741557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2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69" r:id="rId2"/>
    <p:sldLayoutId id="2147483781" r:id="rId3"/>
    <p:sldLayoutId id="2147483770" r:id="rId4"/>
    <p:sldLayoutId id="2147483803" r:id="rId5"/>
    <p:sldLayoutId id="2147483772" r:id="rId6"/>
    <p:sldLayoutId id="2147483785" r:id="rId7"/>
    <p:sldLayoutId id="2147483773" r:id="rId8"/>
    <p:sldLayoutId id="2147483786" r:id="rId9"/>
    <p:sldLayoutId id="2147483774" r:id="rId10"/>
    <p:sldLayoutId id="2147483787" r:id="rId11"/>
    <p:sldLayoutId id="2147483775" r:id="rId12"/>
    <p:sldLayoutId id="2147483788" r:id="rId13"/>
    <p:sldLayoutId id="2147483798" r:id="rId14"/>
    <p:sldLayoutId id="2147483776" r:id="rId15"/>
    <p:sldLayoutId id="2147483789" r:id="rId16"/>
    <p:sldLayoutId id="2147483778" r:id="rId17"/>
    <p:sldLayoutId id="2147483795" r:id="rId18"/>
    <p:sldLayoutId id="2147483779" r:id="rId19"/>
    <p:sldLayoutId id="2147483796" r:id="rId20"/>
    <p:sldLayoutId id="2147483777" r:id="rId21"/>
    <p:sldLayoutId id="2147483790" r:id="rId22"/>
    <p:sldLayoutId id="2147483791" r:id="rId23"/>
    <p:sldLayoutId id="2147483780" r:id="rId24"/>
    <p:sldLayoutId id="2147483792" r:id="rId25"/>
    <p:sldLayoutId id="2147483782" r:id="rId26"/>
    <p:sldLayoutId id="2147483800" r:id="rId27"/>
    <p:sldLayoutId id="2147483804" r:id="rId28"/>
    <p:sldLayoutId id="2147483802" r:id="rId29"/>
    <p:sldLayoutId id="2147483805" r:id="rId30"/>
    <p:sldLayoutId id="2147483801" r:id="rId31"/>
    <p:sldLayoutId id="2147483783" r:id="rId32"/>
    <p:sldLayoutId id="2147483807" r:id="rId3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4E008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88950" indent="-1746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1333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55700" indent="-1285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70025" indent="-1333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>
          <p15:clr>
            <a:srgbClr val="F26B43"/>
          </p15:clr>
        </p15:guide>
        <p15:guide id="2" pos="7605">
          <p15:clr>
            <a:srgbClr val="F26B43"/>
          </p15:clr>
        </p15:guide>
        <p15:guide id="3" pos="75">
          <p15:clr>
            <a:srgbClr val="F26B43"/>
          </p15:clr>
        </p15:guide>
        <p15:guide id="4" orient="horz" pos="4247">
          <p15:clr>
            <a:srgbClr val="F26B43"/>
          </p15:clr>
        </p15:guide>
        <p15:guide id="5" pos="325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pos="6970">
          <p15:clr>
            <a:srgbClr val="F26B43"/>
          </p15:clr>
        </p15:guide>
        <p15:guide id="8" orient="horz" pos="346">
          <p15:clr>
            <a:srgbClr val="F26B43"/>
          </p15:clr>
        </p15:guide>
        <p15:guide id="9" orient="horz" pos="981">
          <p15:clr>
            <a:srgbClr val="F26B43"/>
          </p15:clr>
        </p15:guide>
        <p15:guide id="10" orient="horz" pos="572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MLOps</a:t>
            </a:r>
            <a:r>
              <a:rPr dirty="0"/>
              <a:t> for Football</a:t>
            </a:r>
          </a:p>
          <a:p>
            <a:r>
              <a:rPr dirty="0"/>
              <a:t>World Cup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Multi-Model Comparison with Structured Model </a:t>
            </a:r>
            <a:r>
              <a:rPr dirty="0" err="1"/>
              <a:t>Promotio</a:t>
            </a:r>
            <a:r>
              <a:rPr lang="fi-FI" dirty="0"/>
              <a:t>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600" noProof="1"/>
                  <a:t>Who wins the 2026 World Cup? And can we build a rigorous ML system to answer that?</a:t>
                </a:r>
              </a:p>
              <a:p>
                <a:r>
                  <a:rPr lang="en-US" sz="1600" noProof="1"/>
                  <a:t>National team football is hard to predict:</a:t>
                </a:r>
              </a:p>
              <a:p>
                <a:pPr lvl="1"/>
                <a:r>
                  <a:rPr lang="en-US" sz="1600" noProof="1"/>
                  <a:t>Only 6–12 matches per team per year → sparse, irregular data</a:t>
                </a:r>
              </a:p>
              <a:p>
                <a:pPr lvl="1"/>
                <a:r>
                  <a:rPr lang="en-US" sz="1600" noProof="1"/>
                  <a:t>High variance in a low-scoring sport</a:t>
                </a:r>
              </a:p>
              <a:p>
                <a:pPr lvl="1"/>
                <a:r>
                  <a:rPr lang="en-US" sz="1600" noProof="1"/>
                  <a:t>Cross-confederation heterogeneity; friendlies vs. finals mix in training data</a:t>
                </a:r>
              </a:p>
              <a:p>
                <a:r>
                  <a:rPr lang="en-US" sz="1600" noProof="1"/>
                  <a:t>Expanded World Cup format adds combinatorial bracket uncertainty: 12 groups with best-third-place rule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160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16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noProof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sz="1600" b="0" i="1" noProof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00" noProof="1"/>
                  <a:t> = 495 possible combinations</a:t>
                </a:r>
              </a:p>
              <a:p>
                <a:pPr lvl="1"/>
                <a:r>
                  <a:rPr lang="en-US" sz="1600" noProof="1"/>
                  <a:t>&gt;60% of K.O. matchups depend on combination of best thirds</a:t>
                </a:r>
              </a:p>
              <a:p>
                <a:r>
                  <a:rPr lang="en-US" sz="1600" noProof="1"/>
                  <a:t>Two contributions:</a:t>
                </a:r>
              </a:p>
              <a:p>
                <a:pPr lvl="1"/>
                <a:r>
                  <a:rPr lang="en-US" sz="1600" noProof="1"/>
                  <a:t>A practical MLOps pipeline: Bronze/Silver/Gold + three-environment model lifecycle</a:t>
                </a:r>
              </a:p>
              <a:p>
                <a:pPr lvl="1"/>
                <a:r>
                  <a:rPr lang="en-US" sz="1600" noProof="1"/>
                  <a:t>Systematic comparison of nine candidate models spanning five families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1" t="-872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/>
              <a:t>Bronze: raw immutable snapshots — API-Football (fixtures + per-match stats) and Elo ratings (</a:t>
            </a:r>
            <a:r>
              <a:rPr sz="1400" dirty="0" err="1"/>
              <a:t>eloratings.net</a:t>
            </a:r>
            <a:r>
              <a:rPr sz="1400" dirty="0"/>
              <a:t>)</a:t>
            </a:r>
          </a:p>
          <a:p>
            <a:r>
              <a:rPr sz="1400" dirty="0"/>
              <a:t>Silver: cleaned Parquet — schema validation, team name mapping, competition tier (1–4), Elo join (date-proximate)</a:t>
            </a:r>
          </a:p>
          <a:p>
            <a:r>
              <a:rPr sz="1400" dirty="0"/>
              <a:t>Gold: one row per match, strictly time-aware features (no future information)</a:t>
            </a:r>
          </a:p>
          <a:p>
            <a:r>
              <a:rPr sz="1400" dirty="0"/>
              <a:t>Feature families:</a:t>
            </a:r>
          </a:p>
          <a:p>
            <a:pPr lvl="1"/>
            <a:r>
              <a:rPr sz="1400" dirty="0"/>
              <a:t>Elo: </a:t>
            </a:r>
            <a:r>
              <a:rPr sz="1400" dirty="0" err="1"/>
              <a:t>elo_diff</a:t>
            </a:r>
            <a:r>
              <a:rPr sz="1400" dirty="0"/>
              <a:t> (</a:t>
            </a:r>
            <a:r>
              <a:rPr sz="1400" dirty="0" err="1"/>
              <a:t>favourite</a:t>
            </a:r>
            <a:r>
              <a:rPr sz="1400" dirty="0"/>
              <a:t> signal) + </a:t>
            </a:r>
            <a:r>
              <a:rPr sz="1400" dirty="0" err="1"/>
              <a:t>elo_sum</a:t>
            </a:r>
            <a:r>
              <a:rPr sz="1400" dirty="0"/>
              <a:t> (match quality, added in Gold v2)</a:t>
            </a:r>
          </a:p>
          <a:p>
            <a:pPr lvl="1"/>
            <a:r>
              <a:rPr sz="1400" dirty="0"/>
              <a:t>Rolling form (last 10 matches): goals for/against, shot volume/precision, fouls, corners, possession %</a:t>
            </a:r>
          </a:p>
          <a:p>
            <a:pPr lvl="1"/>
            <a:r>
              <a:rPr sz="1400" dirty="0"/>
              <a:t>Context: </a:t>
            </a:r>
            <a:r>
              <a:rPr sz="1400" dirty="0" err="1"/>
              <a:t>competition_tier</a:t>
            </a:r>
            <a:r>
              <a:rPr sz="1400" dirty="0"/>
              <a:t>, </a:t>
            </a:r>
            <a:r>
              <a:rPr sz="1400" dirty="0" err="1"/>
              <a:t>is_knockout</a:t>
            </a:r>
            <a:r>
              <a:rPr sz="1400" dirty="0"/>
              <a:t>, </a:t>
            </a:r>
            <a:r>
              <a:rPr sz="1400" dirty="0" err="1"/>
              <a:t>is_neutral</a:t>
            </a:r>
            <a:r>
              <a:rPr sz="1400" dirty="0"/>
              <a:t>, </a:t>
            </a:r>
            <a:r>
              <a:rPr sz="1400" dirty="0" err="1"/>
              <a:t>is_cross_confederation</a:t>
            </a:r>
            <a:endParaRPr sz="1400" dirty="0"/>
          </a:p>
          <a:p>
            <a:pPr lvl="1"/>
            <a:r>
              <a:rPr sz="1400" dirty="0"/>
              <a:t>Squad cohesion: </a:t>
            </a:r>
            <a:r>
              <a:rPr sz="1400" dirty="0" err="1"/>
              <a:t>days_since_last_match</a:t>
            </a:r>
            <a:r>
              <a:rPr sz="1400" dirty="0"/>
              <a:t>, </a:t>
            </a:r>
            <a:r>
              <a:rPr sz="1400" dirty="0" err="1"/>
              <a:t>rest_diff</a:t>
            </a:r>
            <a:r>
              <a:rPr sz="1400" dirty="0"/>
              <a:t> (Gold v2)</a:t>
            </a:r>
          </a:p>
          <a:p>
            <a:endParaRPr lang="fi-FI" sz="1400" dirty="0"/>
          </a:p>
          <a:p>
            <a:r>
              <a:rPr sz="1400" dirty="0"/>
              <a:t>Clustering experiment: silhouette &lt; 0.40 across all k/variants → no discrete tactical archetypes → raw rolling columns used directly</a:t>
            </a:r>
            <a:endParaRPr lang="fi-FI" sz="1400" dirty="0"/>
          </a:p>
          <a:p>
            <a:pPr marL="0" indent="0">
              <a:buNone/>
            </a:pPr>
            <a:endParaRPr sz="1400" dirty="0"/>
          </a:p>
          <a:p>
            <a:r>
              <a:rPr sz="1400" dirty="0"/>
              <a:t>~51% stats coverage → fine-grained features (e.g. shots-inside-box: ~1.6% non-null) excluded from core feature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MLOps Pipeline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114300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Nine Candidate</a:t>
            </a:r>
            <a:r>
              <a:rPr lang="fi-FI" dirty="0"/>
              <a:t> </a:t>
            </a:r>
            <a:r>
              <a:rPr lang="fi-FI" dirty="0" err="1"/>
              <a:t>Models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400" y="1821628"/>
            <a:ext cx="10515600" cy="3681195"/>
          </a:xfrm>
        </p:spPr>
        <p:txBody>
          <a:bodyPr/>
          <a:lstStyle/>
          <a:p>
            <a:pPr marL="0" indent="0">
              <a:buNone/>
            </a:pPr>
            <a:endParaRPr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A404B1-2BB9-2564-F190-95DC84BB2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95822"/>
              </p:ext>
            </p:extLst>
          </p:nvPr>
        </p:nvGraphicFramePr>
        <p:xfrm>
          <a:off x="410400" y="1694505"/>
          <a:ext cx="4829472" cy="3929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469">
                  <a:extLst>
                    <a:ext uri="{9D8B030D-6E8A-4147-A177-3AD203B41FA5}">
                      <a16:colId xmlns:a16="http://schemas.microsoft.com/office/drawing/2014/main" val="517748274"/>
                    </a:ext>
                  </a:extLst>
                </a:gridCol>
                <a:gridCol w="1555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>
                          <a:solidFill>
                            <a:srgbClr val="FFFFFF"/>
                          </a:solidFill>
                        </a:rPr>
                        <a:t>Family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CV NLL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/>
                        <a:t>NegBin</a:t>
                      </a:r>
                      <a:r>
                        <a:rPr sz="1100" b="1" dirty="0"/>
                        <a:t> GLM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Statistical</a:t>
                      </a:r>
                      <a:endParaRPr sz="11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2.758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Bayesian Poisson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/>
                        <a:t>Bayesian</a:t>
                      </a:r>
                      <a:endParaRPr sz="1100" b="1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2.759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/>
                        <a:t>Bivariate</a:t>
                      </a:r>
                      <a:r>
                        <a:rPr lang="fi-FI" sz="1100" b="1" dirty="0"/>
                        <a:t> </a:t>
                      </a:r>
                      <a:r>
                        <a:rPr sz="1100" b="1" dirty="0"/>
                        <a:t>Poisson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Statistical</a:t>
                      </a:r>
                      <a:endParaRPr sz="11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2.763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4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/>
                        <a:t>XGBoost</a:t>
                      </a:r>
                      <a:endParaRPr sz="1100" b="1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ML (</a:t>
                      </a:r>
                      <a:r>
                        <a:rPr lang="fi-FI" sz="1100" b="1" dirty="0" err="1"/>
                        <a:t>Tree-Based</a:t>
                      </a:r>
                      <a:r>
                        <a:rPr lang="fi-FI" sz="1100" b="1" dirty="0"/>
                        <a:t>)</a:t>
                      </a:r>
                      <a:endParaRPr sz="1100" b="1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2.767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Random Forest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ML (</a:t>
                      </a:r>
                      <a:r>
                        <a:rPr lang="fi-FI" sz="1100" b="0" dirty="0" err="1"/>
                        <a:t>Tree-Based</a:t>
                      </a:r>
                      <a:r>
                        <a:rPr lang="fi-FI" sz="1100" b="0" dirty="0"/>
                        <a:t>)</a:t>
                      </a:r>
                      <a:endParaRPr sz="11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2.768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LSTM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Deep Learning</a:t>
                      </a:r>
                      <a:endParaRPr sz="11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2.821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7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Ridge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ML</a:t>
                      </a:r>
                      <a:endParaRPr sz="11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2.847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SARIMAX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Time-</a:t>
                      </a:r>
                      <a:r>
                        <a:rPr lang="fi-FI" sz="1100" b="0" dirty="0" err="1"/>
                        <a:t>Series</a:t>
                      </a:r>
                      <a:endParaRPr sz="11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3.016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9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1D CNN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Deep Learning</a:t>
                      </a:r>
                      <a:endParaRPr sz="11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3.039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ABDC-3544-CDBE-BC07-7DE9DA4B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D002-68F3-E70A-8CCF-3C666D99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416CE-CD1E-33DE-5D04-662D1C696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00" y="2377440"/>
            <a:ext cx="10515600" cy="3681195"/>
          </a:xfrm>
        </p:spPr>
        <p:txBody>
          <a:bodyPr/>
          <a:lstStyle/>
          <a:p>
            <a:pPr marL="0" indent="0">
              <a:buNone/>
            </a:pPr>
            <a:r>
              <a:rPr sz="1400" dirty="0"/>
              <a:t>Modeling objective: predict goal-rate distributions P(home, away)</a:t>
            </a:r>
            <a:r>
              <a:rPr lang="fi-FI" sz="1400" dirty="0"/>
              <a:t> </a:t>
            </a:r>
            <a:r>
              <a:rPr lang="en-FI" sz="1400" dirty="0"/>
              <a:t>→</a:t>
            </a:r>
            <a:r>
              <a:rPr lang="fi-FI" sz="1400" dirty="0"/>
              <a:t> </a:t>
            </a:r>
            <a:r>
              <a:rPr sz="1400" dirty="0"/>
              <a:t>W/D/L derived downstream via score marginalization + Monte Carlo simulation</a:t>
            </a:r>
            <a:r>
              <a:rPr lang="fi-FI" sz="1400" dirty="0"/>
              <a:t>: P(W) = P(home &gt; </a:t>
            </a:r>
            <a:r>
              <a:rPr lang="fi-FI" sz="1400" dirty="0" err="1"/>
              <a:t>away</a:t>
            </a:r>
            <a:r>
              <a:rPr lang="fi-FI" sz="1400" dirty="0"/>
              <a:t>)</a:t>
            </a:r>
            <a:endParaRPr sz="1400" dirty="0"/>
          </a:p>
          <a:p>
            <a:r>
              <a:rPr sz="1400" dirty="0"/>
              <a:t>Nine candidates across five families:</a:t>
            </a:r>
          </a:p>
          <a:p>
            <a:pPr lvl="1"/>
            <a:r>
              <a:rPr sz="1400" dirty="0"/>
              <a:t>Statistical: Poisson GLM (bivariate Karlis-</a:t>
            </a:r>
            <a:r>
              <a:rPr sz="1400" dirty="0" err="1"/>
              <a:t>Ntzoufras</a:t>
            </a:r>
            <a:r>
              <a:rPr sz="1400" dirty="0"/>
              <a:t>), </a:t>
            </a:r>
            <a:r>
              <a:rPr sz="1400" dirty="0" err="1"/>
              <a:t>NegBin</a:t>
            </a:r>
            <a:r>
              <a:rPr sz="1400" dirty="0"/>
              <a:t> GLM</a:t>
            </a:r>
          </a:p>
          <a:p>
            <a:pPr lvl="1"/>
            <a:r>
              <a:rPr sz="1400" dirty="0"/>
              <a:t>Bayesian: Bayesian Poisson (ADVI)</a:t>
            </a:r>
          </a:p>
          <a:p>
            <a:pPr lvl="1"/>
            <a:r>
              <a:rPr sz="1400" dirty="0"/>
              <a:t>Time-series: SARIMAX (integer match-index time axis)</a:t>
            </a:r>
          </a:p>
          <a:p>
            <a:pPr lvl="1"/>
            <a:r>
              <a:rPr sz="1400" dirty="0"/>
              <a:t>ML: Ridge, Random Forest, </a:t>
            </a:r>
            <a:r>
              <a:rPr sz="1400" dirty="0" err="1"/>
              <a:t>XGBoost</a:t>
            </a:r>
            <a:endParaRPr sz="1400" dirty="0"/>
          </a:p>
          <a:p>
            <a:pPr lvl="1"/>
            <a:r>
              <a:rPr sz="1400" dirty="0"/>
              <a:t>Deep learning: LSTM, 1D CNN (</a:t>
            </a:r>
            <a:r>
              <a:rPr sz="1400" dirty="0" err="1"/>
              <a:t>Keras</a:t>
            </a:r>
            <a:r>
              <a:rPr sz="1400" dirty="0"/>
              <a:t> / JAX)</a:t>
            </a:r>
          </a:p>
          <a:p>
            <a:endParaRPr lang="fi-FI" sz="1400" dirty="0"/>
          </a:p>
          <a:p>
            <a:r>
              <a:rPr sz="1400" dirty="0"/>
              <a:t>Data split: pre-WC 2022 training (3,903 rows) | WC 2022 holdout (64 matches, never seen during training)</a:t>
            </a:r>
          </a:p>
          <a:p>
            <a:r>
              <a:rPr sz="1400" dirty="0"/>
              <a:t>Tuning: </a:t>
            </a:r>
            <a:r>
              <a:rPr sz="1400" dirty="0" err="1"/>
              <a:t>Optuna</a:t>
            </a:r>
            <a:r>
              <a:rPr sz="1400" dirty="0"/>
              <a:t> TPE, 50 trials, walk-forward expanding CV; objective = Poisson NLL (goal-count space)</a:t>
            </a:r>
          </a:p>
          <a:p>
            <a:r>
              <a:rPr sz="1400" dirty="0"/>
              <a:t>QA metric: Ranked Probability Score (RPS) on WC 2022 holdout — lower is better</a:t>
            </a:r>
          </a:p>
          <a:p>
            <a:r>
              <a:rPr sz="1400" dirty="0"/>
              <a:t>All nine advance to QA (no top-K gate — empirically motivated; 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241757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1: CV–Holdout Ranking Reversal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359205"/>
              </p:ext>
            </p:extLst>
          </p:nvPr>
        </p:nvGraphicFramePr>
        <p:xfrm>
          <a:off x="410400" y="1694505"/>
          <a:ext cx="4829472" cy="3929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469">
                  <a:extLst>
                    <a:ext uri="{9D8B030D-6E8A-4147-A177-3AD203B41FA5}">
                      <a16:colId xmlns:a16="http://schemas.microsoft.com/office/drawing/2014/main" val="517748274"/>
                    </a:ext>
                  </a:extLst>
                </a:gridCol>
                <a:gridCol w="1555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>
                          <a:solidFill>
                            <a:srgbClr val="FFFFFF"/>
                          </a:solidFill>
                        </a:rPr>
                        <a:t>Family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CV NLL</a:t>
                      </a:r>
                    </a:p>
                  </a:txBody>
                  <a:tcPr marL="81855" marR="81855" marT="40928" marB="40928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1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/>
                        <a:t>NegBin</a:t>
                      </a:r>
                      <a:r>
                        <a:rPr sz="1100" b="1" dirty="0"/>
                        <a:t> GLM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Statistical</a:t>
                      </a:r>
                      <a:endParaRPr sz="11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2.758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Bayesian Poisson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/>
                        <a:t>Bayesian</a:t>
                      </a:r>
                      <a:endParaRPr sz="1100" b="1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2.759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3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/>
                        <a:t>Bivariate</a:t>
                      </a:r>
                      <a:r>
                        <a:rPr lang="fi-FI" sz="1100" b="1" dirty="0"/>
                        <a:t> </a:t>
                      </a:r>
                      <a:r>
                        <a:rPr sz="1100" b="1" dirty="0"/>
                        <a:t>Poisson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Statistical</a:t>
                      </a:r>
                      <a:endParaRPr sz="1100" b="1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2.763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4 ★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/>
                        <a:t>XGBoost</a:t>
                      </a:r>
                      <a:endParaRPr sz="1100" b="1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ML (</a:t>
                      </a:r>
                      <a:r>
                        <a:rPr lang="fi-FI" sz="1100" b="1" dirty="0" err="1"/>
                        <a:t>Tree-Based</a:t>
                      </a:r>
                      <a:r>
                        <a:rPr lang="fi-FI" sz="1100" b="1" dirty="0"/>
                        <a:t>)</a:t>
                      </a:r>
                      <a:endParaRPr sz="1100" b="1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2.767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Random Forest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ML (</a:t>
                      </a:r>
                      <a:r>
                        <a:rPr lang="fi-FI" sz="1100" b="0" dirty="0" err="1"/>
                        <a:t>Tree-Based</a:t>
                      </a:r>
                      <a:r>
                        <a:rPr lang="fi-FI" sz="1100" b="0" dirty="0"/>
                        <a:t>)</a:t>
                      </a:r>
                      <a:endParaRPr sz="11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2.768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LSTM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Deep Learning</a:t>
                      </a:r>
                      <a:endParaRPr sz="11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2.821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7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Ridge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ML</a:t>
                      </a:r>
                      <a:endParaRPr sz="11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2.847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SARIMAX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Time-</a:t>
                      </a:r>
                      <a:r>
                        <a:rPr lang="fi-FI" sz="1100" b="0" dirty="0" err="1"/>
                        <a:t>Series</a:t>
                      </a:r>
                      <a:endParaRPr sz="1100" b="0" dirty="0"/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3.016</a:t>
                      </a:r>
                    </a:p>
                  </a:txBody>
                  <a:tcPr marL="81855" marR="81855" marT="40928" marB="409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9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1D CNN</a:t>
                      </a:r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Deep Learning</a:t>
                      </a:r>
                      <a:endParaRPr sz="1100" b="0" dirty="0"/>
                    </a:p>
                  </a:txBody>
                  <a:tcPr marL="81855" marR="81855" marT="40928" marB="4092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3.039</a:t>
                      </a:r>
                    </a:p>
                  </a:txBody>
                  <a:tcPr marL="81855" marR="81855" marT="40928" marB="4092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130014"/>
              </p:ext>
            </p:extLst>
          </p:nvPr>
        </p:nvGraphicFramePr>
        <p:xfrm>
          <a:off x="6467478" y="1694494"/>
          <a:ext cx="5314122" cy="3924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610">
                  <a:extLst>
                    <a:ext uri="{9D8B030D-6E8A-4147-A177-3AD203B41FA5}">
                      <a16:colId xmlns:a16="http://schemas.microsoft.com/office/drawing/2014/main" val="1968479684"/>
                    </a:ext>
                  </a:extLst>
                </a:gridCol>
                <a:gridCol w="116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L="81756" marR="81756" marT="40878" marB="4087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81756" marR="81756" marT="40878" marB="4087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>
                          <a:solidFill>
                            <a:srgbClr val="FFFFFF"/>
                          </a:solidFill>
                        </a:rPr>
                        <a:t>Family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81756" marR="81756" marT="40878" marB="40878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Holdout RPS</a:t>
                      </a:r>
                    </a:p>
                  </a:txBody>
                  <a:tcPr marL="81756" marR="81756" marT="40878" marB="40878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1 ★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/>
                        <a:t>XGBoost</a:t>
                      </a:r>
                      <a:endParaRPr sz="1100" b="1" dirty="0"/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ML (</a:t>
                      </a:r>
                      <a:r>
                        <a:rPr lang="fi-FI" sz="1100" b="1" dirty="0" err="1"/>
                        <a:t>Tree-Based</a:t>
                      </a:r>
                      <a:r>
                        <a:rPr lang="fi-FI" sz="1100" b="1" dirty="0"/>
                        <a:t>)</a:t>
                      </a:r>
                      <a:endParaRPr sz="1100" b="1" dirty="0"/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0.2109</a:t>
                      </a:r>
                    </a:p>
                  </a:txBody>
                  <a:tcPr marL="81756" marR="81756" marT="40878" marB="408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Random Forest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ML (</a:t>
                      </a:r>
                      <a:r>
                        <a:rPr lang="fi-FI" sz="1100" b="0" dirty="0" err="1"/>
                        <a:t>Tree-Based</a:t>
                      </a:r>
                      <a:r>
                        <a:rPr lang="fi-FI" sz="1100" b="0" dirty="0"/>
                        <a:t>)</a:t>
                      </a:r>
                      <a:endParaRPr sz="1100" b="0" dirty="0"/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0.2121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3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Ridge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ML</a:t>
                      </a:r>
                      <a:endParaRPr sz="1100" b="0" dirty="0"/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0.2141</a:t>
                      </a:r>
                    </a:p>
                  </a:txBody>
                  <a:tcPr marL="81756" marR="81756" marT="40878" marB="4087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4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/>
                        <a:t>Bivariate</a:t>
                      </a:r>
                      <a:r>
                        <a:rPr lang="fi-FI" sz="1100" b="1" dirty="0"/>
                        <a:t> </a:t>
                      </a:r>
                      <a:r>
                        <a:rPr sz="1100" b="1" dirty="0"/>
                        <a:t>Poisson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Statistical</a:t>
                      </a:r>
                      <a:endParaRPr sz="1100" b="1" dirty="0"/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0.2159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5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Bayesian Poisson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 err="1"/>
                        <a:t>Bayesian</a:t>
                      </a:r>
                      <a:endParaRPr sz="1100" b="1" dirty="0"/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0.2166</a:t>
                      </a:r>
                    </a:p>
                  </a:txBody>
                  <a:tcPr marL="81756" marR="81756" marT="40878" marB="4087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6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/>
                        <a:t>NegBin</a:t>
                      </a:r>
                      <a:r>
                        <a:rPr sz="1100" b="1" dirty="0"/>
                        <a:t> GLM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1" dirty="0"/>
                        <a:t>Statistical</a:t>
                      </a:r>
                      <a:endParaRPr sz="1100" b="1" dirty="0"/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0.2170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7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SARIMAX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Time-</a:t>
                      </a:r>
                      <a:r>
                        <a:rPr lang="fi-FI" sz="1100" b="0" dirty="0" err="1"/>
                        <a:t>Series</a:t>
                      </a:r>
                      <a:endParaRPr sz="1100" b="0" dirty="0"/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0.2183</a:t>
                      </a:r>
                    </a:p>
                  </a:txBody>
                  <a:tcPr marL="81756" marR="81756" marT="40878" marB="4087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8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LSTM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Deep Learning</a:t>
                      </a:r>
                      <a:endParaRPr sz="1100" b="0" dirty="0"/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0.2207</a:t>
                      </a:r>
                    </a:p>
                  </a:txBody>
                  <a:tcPr marL="81756" marR="81756" marT="40878" marB="4087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27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9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1D CNN</a:t>
                      </a:r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100" b="0" dirty="0"/>
                        <a:t>Deep Learning</a:t>
                      </a:r>
                      <a:endParaRPr sz="1100" b="0" dirty="0"/>
                    </a:p>
                  </a:txBody>
                  <a:tcPr marL="81756" marR="81756" marT="40878" marB="40878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0.2248</a:t>
                      </a:r>
                    </a:p>
                  </a:txBody>
                  <a:tcPr marL="81756" marR="81756" marT="40878" marB="4087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760720"/>
            <a:ext cx="11612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>
                <a:solidFill>
                  <a:srgbClr val="444444"/>
                </a:solidFill>
              </a:rPr>
              <a:t>Two explanations: </a:t>
            </a:r>
            <a:endParaRPr lang="fi-FI" sz="1100" i="1" dirty="0">
              <a:solidFill>
                <a:srgbClr val="444444"/>
              </a:solidFill>
            </a:endParaRPr>
          </a:p>
          <a:p>
            <a:r>
              <a:rPr sz="1100" i="1" dirty="0">
                <a:solidFill>
                  <a:srgbClr val="444444"/>
                </a:solidFill>
              </a:rPr>
              <a:t>(1) metric mismatch — NLL rewards scoreline accuracy; RPS evaluates W/D/L probabilities.  </a:t>
            </a:r>
            <a:endParaRPr lang="fi-FI" sz="1100" i="1" dirty="0">
              <a:solidFill>
                <a:srgbClr val="444444"/>
              </a:solidFill>
            </a:endParaRPr>
          </a:p>
          <a:p>
            <a:r>
              <a:rPr sz="1100" i="1" dirty="0">
                <a:solidFill>
                  <a:srgbClr val="444444"/>
                </a:solidFill>
              </a:rPr>
              <a:t>(2) distribution shift — WC holdout is tournament-only (neutral venues, strong teams); training set contains many tier-3/4 matches.  </a:t>
            </a:r>
            <a:endParaRPr lang="fi-FI" sz="1100" i="1" dirty="0">
              <a:solidFill>
                <a:srgbClr val="444444"/>
              </a:solidFill>
            </a:endParaRPr>
          </a:p>
          <a:p>
            <a:r>
              <a:rPr sz="1100" i="1" dirty="0">
                <a:solidFill>
                  <a:srgbClr val="444444"/>
                </a:solidFill>
              </a:rPr>
              <a:t>→ Design decision: removed top-4 promotion gate; all nine models advance to QA.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2</a:t>
            </a:r>
            <a:r>
              <a:rPr dirty="0"/>
              <a:t>: Elo Differential Dominates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877164"/>
              </p:ext>
            </p:extLst>
          </p:nvPr>
        </p:nvGraphicFramePr>
        <p:xfrm>
          <a:off x="410397" y="1680459"/>
          <a:ext cx="10651816" cy="3774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83873" marR="83873" marT="41936" marB="41936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#1 Feature (</a:t>
                      </a:r>
                      <a:r>
                        <a:rPr lang="fi-FI" sz="1100" b="1" dirty="0">
                          <a:solidFill>
                            <a:srgbClr val="FFFFFF"/>
                          </a:solidFill>
                        </a:rPr>
                        <a:t>RPS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Δ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marL="83873" marR="83873" marT="41936" marB="41936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#2 Feature (</a:t>
                      </a:r>
                      <a:r>
                        <a:rPr lang="fi-FI" sz="1100" b="1" dirty="0">
                          <a:solidFill>
                            <a:srgbClr val="FFFFFF"/>
                          </a:solidFill>
                        </a:rPr>
                        <a:t>RPS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Δ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marL="83873" marR="83873" marT="41936" marB="41936">
                    <a:solidFill>
                      <a:srgbClr val="5C16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#3 Feature (</a:t>
                      </a:r>
                      <a:r>
                        <a:rPr lang="fi-FI" sz="1100" b="1" dirty="0">
                          <a:solidFill>
                            <a:srgbClr val="FFFFFF"/>
                          </a:solidFill>
                        </a:rPr>
                        <a:t>RPS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Δ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marL="83873" marR="83873" marT="41936" marB="41936">
                    <a:solidFill>
                      <a:srgbClr val="5C1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Random Forest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elo_diff</a:t>
                      </a:r>
                      <a:r>
                        <a:rPr sz="1100" b="0" dirty="0"/>
                        <a:t> (+.121)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elo_sum (+.002)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roll_goals_ag_h (+.002)</a:t>
                      </a:r>
                    </a:p>
                  </a:txBody>
                  <a:tcPr marL="83873" marR="83873" marT="41936" marB="419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SARIMAX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elo_diff (+.110)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roll_goals_ag_h</a:t>
                      </a:r>
                      <a:r>
                        <a:rPr sz="1100" b="0" dirty="0"/>
                        <a:t> (+.002)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elo_sum (+.000)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NegBin GLM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elo_diff</a:t>
                      </a:r>
                      <a:r>
                        <a:rPr sz="1100" b="0" dirty="0"/>
                        <a:t> (+.104)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roll_goals_ag_h</a:t>
                      </a:r>
                      <a:r>
                        <a:rPr sz="1100" b="0" dirty="0"/>
                        <a:t> (+.001)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comp_tier (+.001)</a:t>
                      </a:r>
                    </a:p>
                  </a:txBody>
                  <a:tcPr marL="83873" marR="83873" marT="41936" marB="419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Bayesian Poisson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elo_diff (+.103)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rest_diff</a:t>
                      </a:r>
                      <a:r>
                        <a:rPr sz="1100" b="0" dirty="0"/>
                        <a:t> (+.001)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roll_goals_ag_h (+.001)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Poisson GLM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elo_diff (+.102)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roll_goals_ag_h</a:t>
                      </a:r>
                      <a:r>
                        <a:rPr sz="1100" b="0" dirty="0"/>
                        <a:t> (+.001)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comp_tier (+.001)</a:t>
                      </a:r>
                    </a:p>
                  </a:txBody>
                  <a:tcPr marL="83873" marR="83873" marT="41936" marB="419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XGBoost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elo_diff</a:t>
                      </a:r>
                      <a:r>
                        <a:rPr sz="1100" b="0" dirty="0"/>
                        <a:t> (+.098)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i="0" u="none" dirty="0"/>
                        <a:t>r</a:t>
                      </a:r>
                      <a:r>
                        <a:rPr sz="1100" b="0" i="0" u="none" dirty="0" err="1"/>
                        <a:t>oll_tac_poss_a</a:t>
                      </a:r>
                      <a:r>
                        <a:rPr sz="1100" b="0" i="0" u="none" dirty="0"/>
                        <a:t> (+.002)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roll_goals_ag_h (+.002)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LSTM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elo_diff (+.095)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is_neutral (+.005)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comp_tier (+.002)</a:t>
                      </a:r>
                    </a:p>
                  </a:txBody>
                  <a:tcPr marL="83873" marR="83873" marT="41936" marB="4193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Ridge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elo_diff (+.062)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roll_goals_ag_h</a:t>
                      </a:r>
                      <a:r>
                        <a:rPr sz="1100" b="0" dirty="0"/>
                        <a:t> (+.004)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roll_goals_ag_a (+.002)</a:t>
                      </a:r>
                    </a:p>
                  </a:txBody>
                  <a:tcPr marL="83873" marR="83873" marT="41936" marB="41936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426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1D CNN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elo_diff (+.055)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is_neutral (+.005)</a:t>
                      </a:r>
                    </a:p>
                  </a:txBody>
                  <a:tcPr marL="83873" marR="83873" marT="41936" marB="41936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comp_tier</a:t>
                      </a:r>
                      <a:r>
                        <a:rPr sz="1100" b="0" dirty="0"/>
                        <a:t> (+.004)</a:t>
                      </a:r>
                    </a:p>
                  </a:txBody>
                  <a:tcPr marL="83873" marR="83873" marT="41936" marB="4193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577840"/>
            <a:ext cx="11612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i="1" dirty="0" err="1">
                <a:solidFill>
                  <a:srgbClr val="444444"/>
                </a:solidFill>
              </a:rPr>
              <a:t>elo_diff</a:t>
            </a:r>
            <a:r>
              <a:rPr lang="en-GB" sz="1100" i="1" dirty="0">
                <a:solidFill>
                  <a:srgbClr val="444444"/>
                </a:solidFill>
              </a:rPr>
              <a:t> ranks #1 across ALL nine model families — importance 1–2 orders of magnitude above any other feature.  </a:t>
            </a:r>
          </a:p>
          <a:p>
            <a:r>
              <a:rPr lang="en-GB" sz="1100" i="1" dirty="0">
                <a:solidFill>
                  <a:srgbClr val="444444"/>
                </a:solidFill>
              </a:rPr>
              <a:t>Narrow holdout RPS band: 0.010 across 8 of 9 models → shared feature ceiling limits gains from more complex architectures.  </a:t>
            </a:r>
          </a:p>
          <a:p>
            <a:r>
              <a:rPr lang="en-GB" sz="1100" i="1" dirty="0">
                <a:solidFill>
                  <a:srgbClr val="444444"/>
                </a:solidFill>
              </a:rPr>
              <a:t>Gold v2 auto-promotion: </a:t>
            </a:r>
            <a:r>
              <a:rPr lang="en-GB" sz="1100" i="1" dirty="0" err="1">
                <a:solidFill>
                  <a:srgbClr val="444444"/>
                </a:solidFill>
              </a:rPr>
              <a:t>XGBoost</a:t>
            </a:r>
            <a:r>
              <a:rPr lang="en-GB" sz="1100" i="1" dirty="0">
                <a:solidFill>
                  <a:srgbClr val="444444"/>
                </a:solidFill>
              </a:rPr>
              <a:t> </a:t>
            </a:r>
            <a:r>
              <a:rPr lang="el-GR" sz="1100" i="1" dirty="0">
                <a:solidFill>
                  <a:srgbClr val="444444"/>
                </a:solidFill>
              </a:rPr>
              <a:t>Δ</a:t>
            </a:r>
            <a:r>
              <a:rPr lang="en-GB" sz="1100" i="1" dirty="0">
                <a:solidFill>
                  <a:srgbClr val="444444"/>
                </a:solidFill>
              </a:rPr>
              <a:t>RPS = −0.0009 over v1 → registered as </a:t>
            </a:r>
            <a:r>
              <a:rPr lang="en-GB" sz="1100" i="1" dirty="0" err="1">
                <a:solidFill>
                  <a:srgbClr val="444444"/>
                </a:solidFill>
              </a:rPr>
              <a:t>wc_production</a:t>
            </a:r>
            <a:r>
              <a:rPr lang="en-GB" sz="1100" i="1" dirty="0">
                <a:solidFill>
                  <a:srgbClr val="444444"/>
                </a:solidFill>
              </a:rPr>
              <a:t> version 4.  </a:t>
            </a:r>
          </a:p>
          <a:p>
            <a:r>
              <a:rPr lang="en-GB" sz="1100" i="1" dirty="0">
                <a:solidFill>
                  <a:srgbClr val="444444"/>
                </a:solidFill>
              </a:rPr>
              <a:t>Deep learning penalty confirmed (H4): LSTM degraded +0.0074 after adding 5 features to an already data-sparse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700" dirty="0" err="1"/>
              <a:t>MLflow</a:t>
            </a:r>
            <a:r>
              <a:rPr sz="1700" dirty="0"/>
              <a:t> UI</a:t>
            </a:r>
          </a:p>
          <a:p>
            <a:pPr lvl="1"/>
            <a:r>
              <a:rPr sz="1700" dirty="0"/>
              <a:t>Experiment runs and </a:t>
            </a:r>
            <a:r>
              <a:rPr sz="1700" dirty="0" err="1"/>
              <a:t>Optuna</a:t>
            </a:r>
            <a:r>
              <a:rPr sz="1700" dirty="0"/>
              <a:t> trial audit trail</a:t>
            </a:r>
          </a:p>
          <a:p>
            <a:pPr lvl="1"/>
            <a:r>
              <a:rPr sz="1700" dirty="0" err="1"/>
              <a:t>wc_production</a:t>
            </a:r>
            <a:r>
              <a:rPr sz="1700" dirty="0"/>
              <a:t> champion alias  |  </a:t>
            </a:r>
            <a:r>
              <a:rPr sz="1700" dirty="0" err="1"/>
              <a:t>wc_staging</a:t>
            </a:r>
            <a:r>
              <a:rPr sz="1700" dirty="0"/>
              <a:t> WC 2022 audit trail  |  </a:t>
            </a:r>
            <a:r>
              <a:rPr sz="1700" dirty="0" err="1"/>
              <a:t>wc_shadow</a:t>
            </a:r>
            <a:r>
              <a:rPr sz="1700" dirty="0"/>
              <a:t> monitoring candidates</a:t>
            </a:r>
          </a:p>
          <a:p>
            <a:r>
              <a:rPr sz="1700" dirty="0"/>
              <a:t>Tournament simulation output</a:t>
            </a:r>
          </a:p>
          <a:p>
            <a:pPr lvl="1"/>
            <a:r>
              <a:rPr sz="1700" dirty="0"/>
              <a:t>Per-team group-stage advancement and knockout probabilities</a:t>
            </a:r>
          </a:p>
          <a:p>
            <a:pPr lvl="1"/>
            <a:r>
              <a:rPr sz="1700" dirty="0"/>
              <a:t>10,000 Monte Carlo paths; 60%+ of knockout matchups non-deterministic under best-third-place rule</a:t>
            </a:r>
          </a:p>
          <a:p>
            <a:r>
              <a:rPr sz="1700" dirty="0"/>
              <a:t>Inference cycle walk-through</a:t>
            </a:r>
          </a:p>
          <a:p>
            <a:pPr lvl="1"/>
            <a:r>
              <a:rPr sz="1700" dirty="0"/>
              <a:t>Trigger → freshness check (ELO SHA-256 + API-Football 48h window)</a:t>
            </a:r>
          </a:p>
          <a:p>
            <a:pPr lvl="1"/>
            <a:r>
              <a:rPr sz="1700" dirty="0"/>
              <a:t>→ </a:t>
            </a:r>
            <a:r>
              <a:rPr sz="1700" dirty="0" err="1"/>
              <a:t>dvc</a:t>
            </a:r>
            <a:r>
              <a:rPr sz="1700" dirty="0"/>
              <a:t> repro (Silver / Gold rebuild with updated rolling features)</a:t>
            </a:r>
          </a:p>
          <a:p>
            <a:pPr lvl="1"/>
            <a:r>
              <a:rPr sz="1700" dirty="0"/>
              <a:t>→ champion predict → simulation artifacts logged to </a:t>
            </a:r>
            <a:r>
              <a:rPr sz="1700" dirty="0" err="1"/>
              <a:t>MLflow</a:t>
            </a:r>
            <a:endParaRPr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 err="1"/>
              <a:t>XGBoost</a:t>
            </a:r>
            <a:r>
              <a:rPr sz="1600" dirty="0"/>
              <a:t> selected as production champion: holdout RPS 0.2109 on 64 WC 2022 matches</a:t>
            </a:r>
          </a:p>
          <a:p>
            <a:r>
              <a:rPr sz="1600" dirty="0"/>
              <a:t>CV–holdout ranking reversal motivated removing the top-K gate → all nine advance to QA</a:t>
            </a:r>
          </a:p>
          <a:p>
            <a:r>
              <a:rPr sz="1600" dirty="0"/>
              <a:t>Elo differential is the dominant signal; the shared feature ceiling limits gains from more complex architectures</a:t>
            </a:r>
          </a:p>
          <a:p>
            <a:r>
              <a:rPr sz="1600" dirty="0" err="1"/>
              <a:t>MLOps</a:t>
            </a:r>
            <a:r>
              <a:rPr sz="1600" dirty="0"/>
              <a:t> iteration loop works: Gold v2 auto-promoted </a:t>
            </a:r>
            <a:r>
              <a:rPr sz="1600" dirty="0" err="1"/>
              <a:t>XGBoost</a:t>
            </a:r>
            <a:r>
              <a:rPr sz="1600" dirty="0"/>
              <a:t> (ΔRPS −0.0009) without manual intervention</a:t>
            </a:r>
          </a:p>
          <a:p>
            <a:r>
              <a:rPr sz="1600" dirty="0"/>
              <a:t>Next: WC 2026 live monitoring — per-match scoring of all nine models against actual results every 30 minutes</a:t>
            </a:r>
          </a:p>
          <a:p>
            <a:r>
              <a:rPr sz="1600" dirty="0"/>
              <a:t>Limitations:</a:t>
            </a:r>
          </a:p>
          <a:p>
            <a:pPr lvl="1"/>
            <a:r>
              <a:rPr sz="1600" dirty="0"/>
              <a:t>Single holdout (89 matches) — limited statistical power to separate closely ranked models</a:t>
            </a:r>
          </a:p>
          <a:p>
            <a:pPr lvl="1"/>
            <a:r>
              <a:rPr sz="1600" dirty="0"/>
              <a:t>WC 2022 holdout is 4 years from prediction target; tactical/generational drift unmodeled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UNI Theme">
  <a:themeElements>
    <a:clrScheme name="TUNI-teema-pp">
      <a:dk1>
        <a:srgbClr val="000000"/>
      </a:dk1>
      <a:lt1>
        <a:srgbClr val="FFFFFF"/>
      </a:lt1>
      <a:dk2>
        <a:srgbClr val="4E008E"/>
      </a:dk2>
      <a:lt2>
        <a:srgbClr val="FFFFFF"/>
      </a:lt2>
      <a:accent1>
        <a:srgbClr val="4E008E"/>
      </a:accent1>
      <a:accent2>
        <a:srgbClr val="38B399"/>
      </a:accent2>
      <a:accent3>
        <a:srgbClr val="FFE349"/>
      </a:accent3>
      <a:accent4>
        <a:srgbClr val="CF286F"/>
      </a:accent4>
      <a:accent5>
        <a:srgbClr val="000000"/>
      </a:accent5>
      <a:accent6>
        <a:srgbClr val="79C0EB"/>
      </a:accent6>
      <a:hlink>
        <a:srgbClr val="0041BE"/>
      </a:hlink>
      <a:folHlink>
        <a:srgbClr val="CF28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U template EN.pptx" id="{B1C3DC4B-F950-4622-BA06-D51317C440AB}" vid="{6C22DEC0-38D3-4753-B7A5-3C914CF483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TAU template EN</Template>
  <TotalTime>453</TotalTime>
  <Words>1406</Words>
  <Application>Microsoft Macintosh PowerPoint</Application>
  <PresentationFormat>Widescreen</PresentationFormat>
  <Paragraphs>252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TUNI Theme</vt:lpstr>
      <vt:lpstr>MLOps for Football World Cup Prediction</vt:lpstr>
      <vt:lpstr>Motivation</vt:lpstr>
      <vt:lpstr>Data Pipeline &amp; Feature Engineering</vt:lpstr>
      <vt:lpstr>End-to-End MLOps Pipeline</vt:lpstr>
      <vt:lpstr>Nine Candidate Models</vt:lpstr>
      <vt:lpstr>Experimental Setup</vt:lpstr>
      <vt:lpstr>Finding 1: CV–Holdout Ranking Reversal</vt:lpstr>
      <vt:lpstr>Finding 2: Elo Differential Dominates</vt:lpstr>
      <vt:lpstr>Live Demo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Tom Farnschläder</cp:lastModifiedBy>
  <cp:revision>6</cp:revision>
  <dcterms:created xsi:type="dcterms:W3CDTF">2020-12-01T13:47:31Z</dcterms:created>
  <dcterms:modified xsi:type="dcterms:W3CDTF">2026-05-12T12:52:13Z</dcterms:modified>
</cp:coreProperties>
</file>